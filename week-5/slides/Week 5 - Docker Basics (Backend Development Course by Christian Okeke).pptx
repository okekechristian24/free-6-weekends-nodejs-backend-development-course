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95" r:id="rId3"/>
    <p:sldId id="297" r:id="rId4"/>
    <p:sldId id="304" r:id="rId5"/>
    <p:sldId id="305" r:id="rId6"/>
    <p:sldId id="306" r:id="rId7"/>
    <p:sldId id="307" r:id="rId8"/>
    <p:sldId id="308" r:id="rId9"/>
    <p:sldId id="309" r:id="rId10"/>
    <p:sldId id="310" r:id="rId11"/>
    <p:sldId id="311" r:id="rId12"/>
    <p:sldId id="312" r:id="rId13"/>
    <p:sldId id="31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191919"/>
    <a:srgbClr val="222222"/>
    <a:srgbClr val="6363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0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7C941-3A21-2AB7-6604-968635A991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A82507-73C1-FA62-F919-6A44D2C1CA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AF415A-D7FB-7F71-B080-118438738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23B7A-5934-4F5A-8C7D-D0F7EE1498FC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05FF6A-D146-D3CD-E6A3-810E93E21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DB2E9C-15B8-2748-FB9B-EA597A6E5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E0C1F-F3B1-473B-A83B-FB178DF13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8848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A0ED9-E2B2-4A1D-6FE5-4A8AB9431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108EB6-3B58-8C73-97F3-0D412C6797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3EBC3C-EC3A-90E1-09BC-6622AB549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23B7A-5934-4F5A-8C7D-D0F7EE1498FC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C52C25-C228-390D-8EBE-4D69F70EB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248A92-BAEC-0CE2-B6A5-3ADF7C3D3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E0C1F-F3B1-473B-A83B-FB178DF13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4007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D8823-3386-EC0F-EB27-01F218383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F286ED-3F5D-19BA-5D18-3F2F4B3D1E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FBF11B-5E35-5DD9-45F4-BAB4DDBAE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23B7A-5934-4F5A-8C7D-D0F7EE1498FC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A7E58-C200-CE9C-A8D6-871FAB186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7E7EFC-1E73-2557-B37A-46BD5E57E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E0C1F-F3B1-473B-A83B-FB178DF13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756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A01B7-3820-65E4-EF85-48D68FB1A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F4E91E-D454-F823-0D68-D0DBF13609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744E22-FDFE-75B7-5B32-BFD6BB0014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34BFCF-CAC3-6300-BB6A-C60F0859B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23B7A-5934-4F5A-8C7D-D0F7EE1498FC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3CA505-3EB0-ACEA-800B-E68BE2811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F4BD58-E3EE-861C-B97B-0D3C1EE90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E0C1F-F3B1-473B-A83B-FB178DF13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361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F3891-5A80-0C9F-5612-2CD00A8D1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6AA6E1-788D-1814-E255-54FBC788AF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192E2E-B93F-031B-904D-DF82AD451D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B49598-A29F-38AE-A544-8E34579102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D3BF71-0A2B-A2B5-4A34-24B3E0A7ED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EB9A63-03B9-4C20-47BA-5BB1B3BC2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23B7A-5934-4F5A-8C7D-D0F7EE1498FC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15CF4C-79C2-1401-E311-8BEE89222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CFA3C9-8BCA-2BB9-84AC-A0698F4AB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E0C1F-F3B1-473B-A83B-FB178DF13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0282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B9009-E316-1421-D9E0-4AB70A7D4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1BA260-2D4A-5469-E2AA-62966E4C8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23B7A-5934-4F5A-8C7D-D0F7EE1498FC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82BD63-70F0-C47D-78E5-7E8389ED1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68DD65-A229-EBB8-D71A-D85C16567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E0C1F-F3B1-473B-A83B-FB178DF13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876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EC8785-5752-B092-9D8A-8F9A8192F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23B7A-5934-4F5A-8C7D-D0F7EE1498FC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B53F8D-970F-B1F0-BF22-9E8DF5B8D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BF23FA-13CA-5BD3-11E9-BF73EE1E1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E0C1F-F3B1-473B-A83B-FB178DF13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6647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AF084-2B37-8973-B804-4B538F9FA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D99AAD-2225-AD6C-0D77-E9EE054C2D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4F0CB0-C70D-BBF6-A12F-EBC6639F17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82BD70-5A93-A34C-DD43-C19F06F6B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23B7A-5934-4F5A-8C7D-D0F7EE1498FC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624D6B-D08D-C6CB-8E30-F7A3C3CAB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F23529-D4D4-15CA-E464-30558F6B2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E0C1F-F3B1-473B-A83B-FB178DF13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995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75B7A-D876-C386-FAF1-B681E827E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9DB7B1-F29B-5DED-2D67-C185DA3E40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BBF9CD-C521-041B-6D41-84C52FFE51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B2507B-0B1B-35A1-B0BF-692404191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23B7A-5934-4F5A-8C7D-D0F7EE1498FC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35137A-3E56-6BB2-0905-A193FE87B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0BE56D-8C92-37CA-6649-19D8D2721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E0C1F-F3B1-473B-A83B-FB178DF13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716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2C759-2403-B7CC-1776-5ED763FEE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D2A3AE-637D-5D1C-D763-54DF7B51D5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353E30-5252-71C0-DA70-7046B7DB9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23B7A-5934-4F5A-8C7D-D0F7EE1498FC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854C28-E78C-4552-C27E-212D7DB6A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CAF470-508A-5BF8-F525-5254414A0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E0C1F-F3B1-473B-A83B-FB178DF13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6960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85609C-8E10-FCA6-BACA-EA23E4869C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3B88BD-2A23-E8F6-EF55-BEB92C86B8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55C034-E4C4-D825-56D0-116BA037C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23B7A-5934-4F5A-8C7D-D0F7EE1498FC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37A7DE-E7FB-4842-76A0-2CB61483A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0C3C9D-69E9-9334-1A6F-DB4E2DBFA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E0C1F-F3B1-473B-A83B-FB178DF13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8834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17836B-7E4D-D881-EBF9-DCB649194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6ABA5A-3F3B-0E97-F867-16BAD7626D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3C41CB-5983-6627-8CBD-30E1626420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023B7A-5934-4F5A-8C7D-D0F7EE1498FC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3B34DB-B5CB-3BD1-05FE-E28574EC96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A7E62D-4F75-4E5C-B36B-717B83AACD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9E0C1F-F3B1-473B-A83B-FB178DF13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037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F6DF2B-1972-4645-95F8-B23E0E7F1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7EA7F081-55AE-D3D3-1C8C-2107735A45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9321" y="-127487"/>
            <a:ext cx="10810291" cy="933598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chemeClr val="accent6"/>
                </a:solidFill>
              </a:rPr>
              <a:t>Docker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0F9DAD-891A-FB28-9BDC-08E5C0AD0F15}"/>
              </a:ext>
            </a:extLst>
          </p:cNvPr>
          <p:cNvSpPr txBox="1"/>
          <p:nvPr/>
        </p:nvSpPr>
        <p:spPr>
          <a:xfrm>
            <a:off x="884899" y="3423697"/>
            <a:ext cx="644996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Why it matters?</a:t>
            </a:r>
            <a:endParaRPr lang="en-US" sz="2400" dirty="0">
              <a:solidFill>
                <a:schemeClr val="accent6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Portability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Speed.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Reproducibility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Easier DevOps workflows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9155DA-BF5C-6616-7740-7C658562FAEC}"/>
              </a:ext>
            </a:extLst>
          </p:cNvPr>
          <p:cNvSpPr txBox="1"/>
          <p:nvPr/>
        </p:nvSpPr>
        <p:spPr>
          <a:xfrm>
            <a:off x="635267" y="971834"/>
            <a:ext cx="11556733" cy="1143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2"/>
                </a:solidFill>
              </a:rPr>
              <a:t>A platform for building, packaging, and running applications in lightweight containers.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2"/>
                </a:solidFill>
              </a:rPr>
              <a:t>Ensures consistency across environments ("works on my machine" solved).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4E89B23-D84B-DA09-55ED-42BB978D4F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9260" y="2428407"/>
            <a:ext cx="6828266" cy="3842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949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4CA22B-A43E-26AF-D665-1B57275DD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028F3DF3-D1E4-A033-4870-33F5528ABE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9321" y="-127487"/>
            <a:ext cx="10810291" cy="933598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chemeClr val="accent6">
                    <a:lumMod val="75000"/>
                  </a:schemeClr>
                </a:solidFill>
              </a:rPr>
              <a:t>Key Concepts (High-Level Overview)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5198B9-C7C8-1BF8-3C21-E9DF141BBC95}"/>
              </a:ext>
            </a:extLst>
          </p:cNvPr>
          <p:cNvSpPr txBox="1"/>
          <p:nvPr/>
        </p:nvSpPr>
        <p:spPr>
          <a:xfrm>
            <a:off x="1828175" y="1662274"/>
            <a:ext cx="644996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Images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Containers.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Dockerfile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Docker Engine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Docker Hub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Volumes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Networks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7393132-391D-6BEC-DCF4-1460B72160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9281" y="1354784"/>
            <a:ext cx="6026215" cy="3840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126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26AE6E-F1A8-F902-BECE-4E2477D24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9C166587-8DF5-1AD6-27AC-ED7A8817F1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9321" y="-265137"/>
            <a:ext cx="10810291" cy="933598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chemeClr val="accent6">
                    <a:lumMod val="75000"/>
                  </a:schemeClr>
                </a:solidFill>
              </a:rPr>
              <a:t>What is an Image?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AC07E1A-1C0F-7E93-ECB7-349221FAD8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9785" y="579625"/>
            <a:ext cx="9856269" cy="1420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read-only template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 containing instructions for creating containers.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Built from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Arial" panose="020B0604020202020204" pitchFamily="34" charset="0"/>
              </a:rPr>
              <a:t>Dockerfile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Can be stored in registries (Docker Hub, GitHub Packages, AWS ECR).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3E1B1B07-F9AB-616D-BE52-320CC19041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304" y="2503249"/>
            <a:ext cx="9856269" cy="1881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Examples: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node:18-alpine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python:3.12-slim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mysql:8.0</a:t>
            </a:r>
          </a:p>
        </p:txBody>
      </p:sp>
    </p:spTree>
    <p:extLst>
      <p:ext uri="{BB962C8B-B14F-4D97-AF65-F5344CB8AC3E}">
        <p14:creationId xmlns:p14="http://schemas.microsoft.com/office/powerpoint/2010/main" val="34594131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F56E4C-BE96-2CAD-D19C-73560398C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D2150926-CC23-EAA0-545D-9147DA9AEF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9321" y="-130385"/>
            <a:ext cx="10810291" cy="933598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chemeClr val="accent6">
                    <a:lumMod val="75000"/>
                  </a:schemeClr>
                </a:solidFill>
              </a:rPr>
              <a:t>What is a Container?</a:t>
            </a:r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6D35D295-94E0-30FD-A479-5F9BDFC329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2664" y="1266964"/>
            <a:ext cx="11855116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A running instance of an image.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Lightweight, isolated, uses shared OS kernel.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89D6595-4F7F-9613-2FF7-2783055C66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9547" y="2935705"/>
            <a:ext cx="3097927" cy="174941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E9E55A8-34F2-7470-B18A-F101A02B44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9281" y="2480941"/>
            <a:ext cx="6026215" cy="3840942"/>
          </a:xfrm>
          <a:prstGeom prst="rect">
            <a:avLst/>
          </a:prstGeom>
          <a:ln w="19050">
            <a:solidFill>
              <a:schemeClr val="accent6"/>
            </a:solidFill>
          </a:ln>
        </p:spPr>
      </p:pic>
    </p:spTree>
    <p:extLst>
      <p:ext uri="{BB962C8B-B14F-4D97-AF65-F5344CB8AC3E}">
        <p14:creationId xmlns:p14="http://schemas.microsoft.com/office/powerpoint/2010/main" val="27061363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BA43BC-5170-887D-FB20-EEDA85F53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C09F520D-E9CC-EFC4-54AC-E3F6A80AAD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9321" y="-130385"/>
            <a:ext cx="10810291" cy="933598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chemeClr val="accent6">
                    <a:lumMod val="75000"/>
                  </a:schemeClr>
                </a:solidFill>
              </a:rPr>
              <a:t>Docker Architecture</a:t>
            </a:r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22E9605A-92B7-39FC-F44B-98936EFD46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2664" y="1013744"/>
            <a:ext cx="9105500" cy="1564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Three major components: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Docker Client — CLI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Docker Daemon (Engine) — manages images &amp; containers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Registry — stores images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7D91A05-8ABC-6380-97E6-BDFC840336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1426" y="2777790"/>
            <a:ext cx="6622516" cy="3871161"/>
          </a:xfrm>
          <a:prstGeom prst="rect">
            <a:avLst/>
          </a:prstGeom>
          <a:ln w="28575">
            <a:solidFill>
              <a:schemeClr val="accent6"/>
            </a:solidFill>
          </a:ln>
        </p:spPr>
      </p:pic>
    </p:spTree>
    <p:extLst>
      <p:ext uri="{BB962C8B-B14F-4D97-AF65-F5344CB8AC3E}">
        <p14:creationId xmlns:p14="http://schemas.microsoft.com/office/powerpoint/2010/main" val="11309388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BF7905-DA01-EE1B-6F24-C170DC64E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AB727864-6443-5A2D-C6EB-7C749A4017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9321" y="-130385"/>
            <a:ext cx="10810291" cy="933598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chemeClr val="accent6">
                    <a:lumMod val="75000"/>
                  </a:schemeClr>
                </a:solidFill>
              </a:rPr>
              <a:t>Introduction to Dockerfile</a:t>
            </a:r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4F6FBFEA-F0F3-C5C6-C7EC-E6242FD691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4780" y="1037689"/>
            <a:ext cx="91055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Arial" panose="020B0604020202020204" pitchFamily="34" charset="0"/>
              </a:rPr>
              <a:t>Dockerfile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 is a script that tells Docker how to build an image.</a:t>
            </a:r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AFEBDE81-F19F-2F5E-0ECD-5A6E2F86C3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3250" y="1936419"/>
            <a:ext cx="4552750" cy="3088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Common instructions: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dirty="0">
              <a:solidFill>
                <a:schemeClr val="bg2"/>
              </a:solidFill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Arial" panose="020B0604020202020204" pitchFamily="34" charset="0"/>
              </a:rPr>
              <a:t>FROM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 — base image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Arial" panose="020B0604020202020204" pitchFamily="34" charset="0"/>
              </a:rPr>
              <a:t>WORKDIR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 — working directory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Arial" panose="020B0604020202020204" pitchFamily="34" charset="0"/>
              </a:rPr>
              <a:t>COPY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 — copy files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Arial" panose="020B0604020202020204" pitchFamily="34" charset="0"/>
              </a:rPr>
              <a:t>RUN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 — run commands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Arial" panose="020B0604020202020204" pitchFamily="34" charset="0"/>
              </a:rPr>
              <a:t>EXPOSE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 — expose ports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Arial" panose="020B0604020202020204" pitchFamily="34" charset="0"/>
              </a:rPr>
              <a:t>CMD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 — default command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1F3138C-57DC-6901-F7CD-CB6C202C6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0569" y="2006010"/>
            <a:ext cx="3988181" cy="3146079"/>
          </a:xfrm>
          <a:prstGeom prst="rect">
            <a:avLst/>
          </a:prstGeom>
          <a:ln>
            <a:solidFill>
              <a:schemeClr val="accent6"/>
            </a:solidFill>
          </a:ln>
        </p:spPr>
      </p:pic>
    </p:spTree>
    <p:extLst>
      <p:ext uri="{BB962C8B-B14F-4D97-AF65-F5344CB8AC3E}">
        <p14:creationId xmlns:p14="http://schemas.microsoft.com/office/powerpoint/2010/main" val="21946600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F05BF0-D32F-57DE-393E-9F42143A0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00BA2F0-774A-0C5E-09DB-14455BA051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9321" y="-130385"/>
            <a:ext cx="10810291" cy="933598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chemeClr val="accent6">
                    <a:lumMod val="75000"/>
                  </a:schemeClr>
                </a:solidFill>
              </a:rPr>
              <a:t>Building &amp; Running an Image</a:t>
            </a:r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895A292A-1B08-B30E-6580-DE9994A0D9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4780" y="1480685"/>
            <a:ext cx="910550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solidFill>
                  <a:schemeClr val="bg2"/>
                </a:solidFill>
                <a:latin typeface="Arial" panose="020B0604020202020204" pitchFamily="34" charset="0"/>
              </a:rPr>
              <a:t>Build image: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solidFill>
                <a:schemeClr val="bg2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i="1" dirty="0">
                <a:solidFill>
                  <a:schemeClr val="accent6"/>
                </a:solidFill>
                <a:latin typeface="Arial" panose="020B0604020202020204" pitchFamily="34" charset="0"/>
              </a:rPr>
              <a:t>docker build -t myapp .</a:t>
            </a:r>
            <a:endParaRPr kumimoji="0" lang="en-US" altLang="en-US" sz="2000" b="0" i="1" u="none" strike="noStrike" cap="none" normalizeH="0" baseline="0" dirty="0">
              <a:ln>
                <a:noFill/>
              </a:ln>
              <a:solidFill>
                <a:schemeClr val="accent6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DA77C784-420A-EFF6-1F48-C93957D521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5798" y="2855495"/>
            <a:ext cx="910550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solidFill>
                  <a:schemeClr val="bg2"/>
                </a:solidFill>
                <a:latin typeface="Arial" panose="020B0604020202020204" pitchFamily="34" charset="0"/>
              </a:rPr>
              <a:t>Run container: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solidFill>
                <a:schemeClr val="bg2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sv-SE" altLang="en-US" sz="2000" i="1" dirty="0">
                <a:solidFill>
                  <a:schemeClr val="accent6"/>
                </a:solidFill>
                <a:latin typeface="Arial" panose="020B0604020202020204" pitchFamily="34" charset="0"/>
              </a:rPr>
              <a:t>docker run -p 5000:5000 myapp</a:t>
            </a:r>
            <a:endParaRPr kumimoji="0" lang="en-US" altLang="en-US" sz="2000" b="0" i="1" u="none" strike="noStrike" cap="none" normalizeH="0" baseline="0" dirty="0">
              <a:ln>
                <a:noFill/>
              </a:ln>
              <a:solidFill>
                <a:schemeClr val="accent6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3580B65E-C633-9A0C-CFA6-37D4BE1DC4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4780" y="4492441"/>
            <a:ext cx="910550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solidFill>
                  <a:schemeClr val="bg2"/>
                </a:solidFill>
                <a:latin typeface="Arial" panose="020B0604020202020204" pitchFamily="34" charset="0"/>
              </a:rPr>
              <a:t>Verify: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solidFill>
                <a:schemeClr val="bg2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sv-SE" altLang="en-US" sz="2000" i="1" dirty="0">
                <a:solidFill>
                  <a:schemeClr val="accent6"/>
                </a:solidFill>
                <a:latin typeface="Arial" panose="020B0604020202020204" pitchFamily="34" charset="0"/>
              </a:rPr>
              <a:t>docker ps</a:t>
            </a:r>
            <a:endParaRPr kumimoji="0" lang="en-US" altLang="en-US" sz="2000" b="0" i="1" u="none" strike="noStrike" cap="none" normalizeH="0" baseline="0" dirty="0">
              <a:ln>
                <a:noFill/>
              </a:ln>
              <a:solidFill>
                <a:schemeClr val="accent6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52227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F4F4ED-77D8-5F61-2C97-1CF63A24D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F48EDAE6-B71C-C896-D71C-B051138144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9321" y="-130385"/>
            <a:ext cx="10810291" cy="933598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chemeClr val="accent6">
                    <a:lumMod val="75000"/>
                  </a:schemeClr>
                </a:solidFill>
              </a:rPr>
              <a:t>Understanding Ports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F12ED961-937F-DAD5-89F3-E468419F22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5798" y="2547719"/>
            <a:ext cx="9105500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solidFill>
                  <a:schemeClr val="bg2"/>
                </a:solidFill>
                <a:latin typeface="Arial" panose="020B0604020202020204" pitchFamily="34" charset="0"/>
              </a:rPr>
              <a:t>Run container: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solidFill>
                <a:schemeClr val="bg2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sv-SE" altLang="en-US" sz="2000" i="1" dirty="0">
                <a:solidFill>
                  <a:schemeClr val="accent6"/>
                </a:solidFill>
                <a:latin typeface="Arial" panose="020B0604020202020204" pitchFamily="34" charset="0"/>
              </a:rPr>
              <a:t>docker run -p 8080:5000 myapp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sv-SE" altLang="en-US" sz="2000" b="0" i="1" u="none" strike="noStrike" cap="none" normalizeH="0" baseline="0" dirty="0">
              <a:ln>
                <a:noFill/>
              </a:ln>
              <a:solidFill>
                <a:schemeClr val="accent6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(Host:8080 → Container:5000)</a:t>
            </a:r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49F16E9F-7CE0-05BE-29AE-D5544FC331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2664" y="1249299"/>
            <a:ext cx="11855116" cy="958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Containers run isolated on a port (e.g. 3000 inside).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You map them to the host.</a:t>
            </a:r>
          </a:p>
        </p:txBody>
      </p:sp>
    </p:spTree>
    <p:extLst>
      <p:ext uri="{BB962C8B-B14F-4D97-AF65-F5344CB8AC3E}">
        <p14:creationId xmlns:p14="http://schemas.microsoft.com/office/powerpoint/2010/main" val="18104628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472AB6-98C8-373E-B948-FC61C3E37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A9B37BE3-53F8-5EA2-8449-141CA89476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9321" y="-130385"/>
            <a:ext cx="10810291" cy="933598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chemeClr val="accent6">
                    <a:lumMod val="75000"/>
                  </a:schemeClr>
                </a:solidFill>
              </a:rPr>
              <a:t>Working with Volumes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30BC2748-3A00-2C1C-9130-CD4EACE3BB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2917" y="2258845"/>
            <a:ext cx="9105500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solidFill>
                  <a:schemeClr val="bg2"/>
                </a:solidFill>
                <a:latin typeface="Arial" panose="020B0604020202020204" pitchFamily="34" charset="0"/>
              </a:rPr>
              <a:t>Create and run with volume: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solidFill>
                <a:schemeClr val="bg2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sv-SE" altLang="en-US" sz="2000" i="1" dirty="0">
                <a:solidFill>
                  <a:schemeClr val="accent6"/>
                </a:solidFill>
                <a:latin typeface="Arial" panose="020B0604020202020204" pitchFamily="34" charset="0"/>
              </a:rPr>
              <a:t>docker run -v mydata:/var/lib/mysql mysql:8.0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sv-SE" altLang="en-US" sz="2000" b="0" i="1" u="none" strike="noStrike" cap="none" normalizeH="0" baseline="0" dirty="0">
              <a:ln>
                <a:noFill/>
              </a:ln>
              <a:solidFill>
                <a:schemeClr val="accent6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8284877C-FD93-9068-1EC0-9503D4AFBA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0673" y="1178470"/>
            <a:ext cx="11855116" cy="496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Used to persist data, especially for databases.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ED8C73D-ECB8-F0D3-6079-2767580F65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304" y="3947215"/>
            <a:ext cx="9856269" cy="2343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Good for: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MySQL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Postgres</a:t>
            </a:r>
            <a:endParaRPr lang="en-US" altLang="en-US" sz="2000" dirty="0">
              <a:solidFill>
                <a:schemeClr val="bg2"/>
              </a:solidFill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MongoDB</a:t>
            </a:r>
            <a:endParaRPr lang="en-US" altLang="en-US" sz="2000" dirty="0">
              <a:solidFill>
                <a:schemeClr val="bg2"/>
              </a:solidFill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Redis</a:t>
            </a:r>
          </a:p>
        </p:txBody>
      </p:sp>
    </p:spTree>
    <p:extLst>
      <p:ext uri="{BB962C8B-B14F-4D97-AF65-F5344CB8AC3E}">
        <p14:creationId xmlns:p14="http://schemas.microsoft.com/office/powerpoint/2010/main" val="32877952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4AC282-1CFA-FEF7-48E9-0DF602CBB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EF6CE21D-5C69-276B-3507-5B374F10F6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9321" y="-130385"/>
            <a:ext cx="10810291" cy="933598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chemeClr val="accent6">
                    <a:lumMod val="75000"/>
                  </a:schemeClr>
                </a:solidFill>
              </a:rPr>
              <a:t>Docker Networking Basics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B136A77-431A-37E3-AD1D-277AB6EDA2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304" y="989592"/>
            <a:ext cx="11855116" cy="1420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Containers communicate via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Arial" panose="020B0604020202020204" pitchFamily="34" charset="0"/>
              </a:rPr>
              <a:t>networks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Default network: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Arial" panose="020B0604020202020204" pitchFamily="34" charset="0"/>
              </a:rPr>
              <a:t>bridge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You can create your own: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AF23B726-DE9C-B464-4D2C-F9E01DED3D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4175" y="2726356"/>
            <a:ext cx="910550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i="1" dirty="0">
                <a:solidFill>
                  <a:schemeClr val="accent6"/>
                </a:solidFill>
                <a:latin typeface="Arial" panose="020B0604020202020204" pitchFamily="34" charset="0"/>
              </a:rPr>
              <a:t>docker network create mynet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i="1" dirty="0">
              <a:solidFill>
                <a:schemeClr val="accent6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i="1" dirty="0">
                <a:solidFill>
                  <a:schemeClr val="accent6"/>
                </a:solidFill>
                <a:latin typeface="Arial" panose="020B0604020202020204" pitchFamily="34" charset="0"/>
              </a:rPr>
              <a:t>docker run --network=mynet myservice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05AF02C-E6A7-9E4C-2AF6-9C47D10377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1096" y="1397167"/>
            <a:ext cx="4211600" cy="3871161"/>
          </a:xfrm>
          <a:prstGeom prst="rect">
            <a:avLst/>
          </a:prstGeom>
          <a:solidFill>
            <a:schemeClr val="accent6"/>
          </a:solidFill>
        </p:spPr>
      </p:pic>
    </p:spTree>
    <p:extLst>
      <p:ext uri="{BB962C8B-B14F-4D97-AF65-F5344CB8AC3E}">
        <p14:creationId xmlns:p14="http://schemas.microsoft.com/office/powerpoint/2010/main" val="35864208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3E30AC-F80E-EE52-0A35-36058D5FB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040EF2C-31A6-9E55-A18D-914E17A306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6696" y="-130385"/>
            <a:ext cx="10810291" cy="933598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chemeClr val="accent6">
                    <a:lumMod val="75000"/>
                  </a:schemeClr>
                </a:solidFill>
              </a:rPr>
              <a:t>Docker Compose: Why We Need It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3A58EFB-E583-E93B-164D-313954E48F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7805" y="1744821"/>
            <a:ext cx="8702843" cy="1881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Arial" panose="020B0604020202020204" pitchFamily="34" charset="0"/>
              </a:rPr>
              <a:t>Compose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 solves this by: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Defining all services in one file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Easy start/stop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Consistent environments</a:t>
            </a:r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56CDCC51-11BF-1A06-D402-24306ECB14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7805" y="994608"/>
            <a:ext cx="10601655" cy="496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Running multiple containers manually is stressful.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C88FAB63-088A-7A28-AD03-555D9F09AC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1009" y="4078119"/>
            <a:ext cx="4539629" cy="1881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000" dirty="0">
                <a:solidFill>
                  <a:schemeClr val="bg2"/>
                </a:solidFill>
                <a:latin typeface="Arial" panose="020B0604020202020204" pitchFamily="34" charset="0"/>
              </a:rPr>
              <a:t>Common for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Backend + Frontend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App + DB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Microservices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DACFCA-3DC1-878D-2BE2-32380D5C72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0638" y="2044376"/>
            <a:ext cx="5011360" cy="4367042"/>
          </a:xfrm>
          <a:prstGeom prst="rect">
            <a:avLst/>
          </a:prstGeom>
          <a:ln w="19050">
            <a:solidFill>
              <a:schemeClr val="accent6"/>
            </a:solidFill>
          </a:ln>
        </p:spPr>
      </p:pic>
    </p:spTree>
    <p:extLst>
      <p:ext uri="{BB962C8B-B14F-4D97-AF65-F5344CB8AC3E}">
        <p14:creationId xmlns:p14="http://schemas.microsoft.com/office/powerpoint/2010/main" val="30725809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317B14-952D-09BF-8D0F-A6DE9D977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D63A6E9-8326-4210-C1D4-B56C3E2845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6696" y="-130385"/>
            <a:ext cx="10810291" cy="933598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chemeClr val="accent6">
                    <a:lumMod val="75000"/>
                  </a:schemeClr>
                </a:solidFill>
              </a:rPr>
              <a:t>Running Docker Compose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6F626E41-4554-DA39-53ED-2A69A378CF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5627" y="2054894"/>
            <a:ext cx="5481018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solidFill>
                  <a:schemeClr val="bg2"/>
                </a:solidFill>
                <a:latin typeface="Arial" panose="020B0604020202020204" pitchFamily="34" charset="0"/>
              </a:rPr>
              <a:t>Start all services (containers):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solidFill>
                <a:schemeClr val="bg2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sv-SE" altLang="en-US" sz="2000" i="1" dirty="0">
                <a:solidFill>
                  <a:schemeClr val="accent6"/>
                </a:solidFill>
                <a:latin typeface="Arial" panose="020B0604020202020204" pitchFamily="34" charset="0"/>
              </a:rPr>
              <a:t>docker compose up -d</a:t>
            </a:r>
            <a:endParaRPr kumimoji="0" lang="en-US" altLang="en-US" sz="2000" b="0" i="1" u="none" strike="noStrike" cap="none" normalizeH="0" baseline="0" dirty="0">
              <a:ln>
                <a:noFill/>
              </a:ln>
              <a:solidFill>
                <a:schemeClr val="accent6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339779AE-A0AC-84C0-68B2-60B7877401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5627" y="3527562"/>
            <a:ext cx="5481018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solidFill>
                  <a:schemeClr val="bg2"/>
                </a:solidFill>
                <a:latin typeface="Arial" panose="020B0604020202020204" pitchFamily="34" charset="0"/>
              </a:rPr>
              <a:t>View containers: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solidFill>
                <a:schemeClr val="bg2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sv-SE" altLang="en-US" sz="2000" i="1" dirty="0">
                <a:solidFill>
                  <a:schemeClr val="accent6"/>
                </a:solidFill>
                <a:latin typeface="Arial" panose="020B0604020202020204" pitchFamily="34" charset="0"/>
              </a:rPr>
              <a:t>docker compose ps</a:t>
            </a:r>
            <a:endParaRPr kumimoji="0" lang="en-US" altLang="en-US" sz="2000" b="0" i="1" u="none" strike="noStrike" cap="none" normalizeH="0" baseline="0" dirty="0">
              <a:ln>
                <a:noFill/>
              </a:ln>
              <a:solidFill>
                <a:schemeClr val="accent6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ACC0C45D-E39C-A6C9-48E2-AD5DC13A45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7021" y="5075626"/>
            <a:ext cx="5481018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solidFill>
                  <a:schemeClr val="bg2"/>
                </a:solidFill>
                <a:latin typeface="Arial" panose="020B0604020202020204" pitchFamily="34" charset="0"/>
              </a:rPr>
              <a:t>Stop all services: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solidFill>
                <a:schemeClr val="bg2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sv-SE" altLang="en-US" sz="2000" i="1" dirty="0">
                <a:solidFill>
                  <a:schemeClr val="accent6"/>
                </a:solidFill>
                <a:latin typeface="Arial" panose="020B0604020202020204" pitchFamily="34" charset="0"/>
              </a:rPr>
              <a:t>docker compose down</a:t>
            </a:r>
            <a:endParaRPr kumimoji="0" lang="en-US" altLang="en-US" sz="2000" b="0" i="1" u="none" strike="noStrike" cap="none" normalizeH="0" baseline="0" dirty="0">
              <a:ln>
                <a:noFill/>
              </a:ln>
              <a:solidFill>
                <a:schemeClr val="accent6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314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CF40FF-2DA8-E3E0-886A-9CF35B2C8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0FCB47B-AA3A-F260-FF48-92C47A9AB9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6696" y="-255514"/>
            <a:ext cx="10810291" cy="933598"/>
          </a:xfrm>
        </p:spPr>
        <p:txBody>
          <a:bodyPr>
            <a:noAutofit/>
          </a:bodyPr>
          <a:lstStyle/>
          <a:p>
            <a:r>
              <a:rPr lang="en-US" sz="4200" b="1" dirty="0">
                <a:solidFill>
                  <a:schemeClr val="accent6">
                    <a:lumMod val="75000"/>
                  </a:schemeClr>
                </a:solidFill>
              </a:rPr>
              <a:t>Common Docker Commands Cheat Sheet</a:t>
            </a:r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F82DF26C-45DD-F798-CD18-56896CA0AA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6239" y="872159"/>
            <a:ext cx="6756936" cy="35035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Common instructions: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dirty="0">
              <a:solidFill>
                <a:schemeClr val="bg2"/>
              </a:solidFill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Arial" panose="020B0604020202020204" pitchFamily="34" charset="0"/>
              </a:rPr>
              <a:t>docker ps -a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 — list containers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Arial" panose="020B0604020202020204" pitchFamily="34" charset="0"/>
              </a:rPr>
              <a:t>docker stop &lt;</a:t>
            </a:r>
            <a:r>
              <a:rPr lang="en-US" altLang="en-US" dirty="0">
                <a:solidFill>
                  <a:schemeClr val="accent6"/>
                </a:solidFill>
                <a:latin typeface="Arial" panose="020B0604020202020204" pitchFamily="34" charset="0"/>
              </a:rPr>
              <a:t>container-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Arial" panose="020B0604020202020204" pitchFamily="34" charset="0"/>
              </a:rPr>
              <a:t>id&gt;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—  stop container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Arial" panose="020B0604020202020204" pitchFamily="34" charset="0"/>
              </a:rPr>
              <a:t>docker rm &lt;container-id&gt;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—  remove container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Arial" panose="020B0604020202020204" pitchFamily="34" charset="0"/>
              </a:rPr>
              <a:t>docker rmi &lt;image&gt;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—  remove image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Arial" panose="020B0604020202020204" pitchFamily="34" charset="0"/>
              </a:rPr>
              <a:t>docker pull &lt;image&gt;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— pull image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Arial" panose="020B0604020202020204" pitchFamily="34" charset="0"/>
              </a:rPr>
              <a:t>docker logs &lt;container- id&gt;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 — container log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Arial" panose="020B0604020202020204" pitchFamily="34" charset="0"/>
              </a:rPr>
              <a:t>docker exec -it &lt;id&gt; /bin/</a:t>
            </a:r>
            <a:r>
              <a:rPr lang="en-US" altLang="en-US" dirty="0">
                <a:solidFill>
                  <a:schemeClr val="accent6"/>
                </a:solidFill>
                <a:latin typeface="Arial" panose="020B0604020202020204" pitchFamily="34" charset="0"/>
              </a:rPr>
              <a:t>bash</a:t>
            </a:r>
            <a:r>
              <a:rPr lang="en-US" altLang="en-US" dirty="0">
                <a:solidFill>
                  <a:schemeClr val="bg2"/>
                </a:solidFill>
                <a:latin typeface="Arial" panose="020B0604020202020204" pitchFamily="34" charset="0"/>
              </a:rPr>
              <a:t> — exec into a container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691AD013-1FB6-53AE-1F3A-B0C33B1360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197" y="872159"/>
            <a:ext cx="4876803" cy="23955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Best practices:</a:t>
            </a:r>
            <a:endParaRPr lang="en-US" altLang="en-US" dirty="0">
              <a:solidFill>
                <a:schemeClr val="bg2"/>
              </a:solidFill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Use lightweight base images: alpine, slim.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Keep Dockerfile clean and modular.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Always .dockerignore unnecessary files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Use multi-stage builds for production.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Use healthchecks for stability.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DFCB8D-F2A1-FED7-AC04-850F06E71BDA}"/>
              </a:ext>
            </a:extLst>
          </p:cNvPr>
          <p:cNvSpPr txBox="1"/>
          <p:nvPr/>
        </p:nvSpPr>
        <p:spPr>
          <a:xfrm>
            <a:off x="1076239" y="6099434"/>
            <a:ext cx="3244645" cy="461665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See </a:t>
            </a:r>
            <a:r>
              <a:rPr lang="en-US" sz="2400" dirty="0">
                <a:solidFill>
                  <a:schemeClr val="accent6"/>
                </a:solidFill>
              </a:rPr>
              <a:t>Labs</a:t>
            </a:r>
            <a:r>
              <a:rPr lang="en-US" sz="2400" dirty="0">
                <a:solidFill>
                  <a:schemeClr val="bg1"/>
                </a:solidFill>
              </a:rPr>
              <a:t> for code demo</a:t>
            </a:r>
          </a:p>
        </p:txBody>
      </p:sp>
    </p:spTree>
    <p:extLst>
      <p:ext uri="{BB962C8B-B14F-4D97-AF65-F5344CB8AC3E}">
        <p14:creationId xmlns:p14="http://schemas.microsoft.com/office/powerpoint/2010/main" val="35197969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10924</TotalTime>
  <Words>504</Words>
  <Application>Microsoft Office PowerPoint</Application>
  <PresentationFormat>Widescreen</PresentationFormat>
  <Paragraphs>115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Docker</vt:lpstr>
      <vt:lpstr>Key Concepts (High-Level Overview)</vt:lpstr>
      <vt:lpstr>What is an Image?</vt:lpstr>
      <vt:lpstr>What is a Container?</vt:lpstr>
      <vt:lpstr>Docker Architecture</vt:lpstr>
      <vt:lpstr>Introduction to Dockerfile</vt:lpstr>
      <vt:lpstr>Building &amp; Running an Image</vt:lpstr>
      <vt:lpstr>Understanding Ports</vt:lpstr>
      <vt:lpstr>Working with Volumes</vt:lpstr>
      <vt:lpstr>Docker Networking Basics</vt:lpstr>
      <vt:lpstr>Docker Compose: Why We Need It</vt:lpstr>
      <vt:lpstr>Running Docker Compose</vt:lpstr>
      <vt:lpstr>Common Docker Commands Cheat Sheet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CHRISTIAN  OKEKE</dc:creator>
  <cp:lastModifiedBy>CHRISTIAN  OKEKE</cp:lastModifiedBy>
  <cp:revision>115</cp:revision>
  <dcterms:created xsi:type="dcterms:W3CDTF">2025-09-24T09:42:11Z</dcterms:created>
  <dcterms:modified xsi:type="dcterms:W3CDTF">2025-11-24T02:54:44Z</dcterms:modified>
</cp:coreProperties>
</file>