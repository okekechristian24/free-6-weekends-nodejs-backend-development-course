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7" r:id="rId3"/>
    <p:sldId id="258" r:id="rId4"/>
    <p:sldId id="259" r:id="rId5"/>
    <p:sldId id="260" r:id="rId6"/>
    <p:sldId id="261" r:id="rId7"/>
    <p:sldId id="278" r:id="rId8"/>
    <p:sldId id="279" r:id="rId9"/>
    <p:sldId id="266" r:id="rId10"/>
    <p:sldId id="267" r:id="rId11"/>
    <p:sldId id="274" r:id="rId12"/>
    <p:sldId id="27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542" y="69380"/>
            <a:ext cx="8229600" cy="685801"/>
          </a:xfrm>
        </p:spPr>
        <p:txBody>
          <a:bodyPr>
            <a:noAutofit/>
          </a:bodyPr>
          <a:lstStyle/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rPr sz="4800" b="1" dirty="0">
                <a:solidFill>
                  <a:srgbClr val="70AD47"/>
                </a:solidFill>
              </a:rPr>
              <a:t>What is Redis?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542" y="1091378"/>
            <a:ext cx="8229600" cy="1130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Redis is an in-memory key–value data store used for caching, message brokering, rate-limiting, queues, and real-time data.</a:t>
            </a:r>
            <a:endParaRPr sz="2400" dirty="0">
              <a:solidFill>
                <a:schemeClr val="bg1"/>
              </a:solidFill>
            </a:endParaRPr>
          </a:p>
          <a:p>
            <a:pPr marL="0" indent="0">
              <a:buNone/>
              <a:defRPr sz="2400">
                <a:solidFill>
                  <a:srgbClr val="FFFFFF"/>
                </a:solidFill>
                <a:latin typeface="Calibri"/>
              </a:defRPr>
            </a:pP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29F400-4383-877A-34A9-038489AFD22D}"/>
              </a:ext>
            </a:extLst>
          </p:cNvPr>
          <p:cNvSpPr txBox="1">
            <a:spLocks/>
          </p:cNvSpPr>
          <p:nvPr/>
        </p:nvSpPr>
        <p:spPr>
          <a:xfrm>
            <a:off x="545691" y="2521981"/>
            <a:ext cx="8229600" cy="3264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Key characteristics: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>
                <a:solidFill>
                  <a:schemeClr val="bg1"/>
                </a:solidFill>
                <a:latin typeface="Calibri"/>
              </a:rPr>
              <a:t>In-memory key–value data store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>
                <a:solidFill>
                  <a:schemeClr val="bg1"/>
                </a:solidFill>
                <a:latin typeface="Calibri"/>
              </a:rPr>
              <a:t>Extremely fast (RAM-based)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>
                <a:solidFill>
                  <a:schemeClr val="bg1"/>
                </a:solidFill>
                <a:latin typeface="Calibri"/>
              </a:rPr>
              <a:t>Used for caching, queues, messaging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>
                <a:solidFill>
                  <a:schemeClr val="bg1"/>
                </a:solidFill>
                <a:latin typeface="Calibri"/>
              </a:rPr>
              <a:t>Single-threaded event loop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>
                <a:solidFill>
                  <a:schemeClr val="bg1"/>
                </a:solidFill>
                <a:latin typeface="Calibri"/>
              </a:rPr>
              <a:t>Multiple data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45AB3-5CB9-7EFD-47AF-AE879EB60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E1F82-411F-2707-E613-00517BA6E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42" y="69380"/>
            <a:ext cx="8229600" cy="685801"/>
          </a:xfrm>
        </p:spPr>
        <p:txBody>
          <a:bodyPr>
            <a:noAutofit/>
          </a:bodyPr>
          <a:lstStyle/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rPr lang="en-US" sz="4800" b="1" dirty="0">
                <a:solidFill>
                  <a:srgbClr val="70AD47"/>
                </a:solidFill>
              </a:rPr>
              <a:t>Redis High Level Overview</a:t>
            </a:r>
            <a:endParaRPr sz="4800" b="1" dirty="0">
              <a:solidFill>
                <a:srgbClr val="70AD47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D10C33-45B4-9EAD-18AB-DBB472B966DE}"/>
              </a:ext>
            </a:extLst>
          </p:cNvPr>
          <p:cNvGrpSpPr/>
          <p:nvPr/>
        </p:nvGrpSpPr>
        <p:grpSpPr>
          <a:xfrm>
            <a:off x="0" y="1591026"/>
            <a:ext cx="9144002" cy="4297680"/>
            <a:chOff x="0" y="1591026"/>
            <a:chExt cx="9144002" cy="429768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10EE95E-9998-8A09-3CD9-0DFFE0347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591026"/>
              <a:ext cx="9144002" cy="429768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C1B9065-EFC4-DD86-57D6-C391E16469C3}"/>
                </a:ext>
              </a:extLst>
            </p:cNvPr>
            <p:cNvSpPr txBox="1"/>
            <p:nvPr/>
          </p:nvSpPr>
          <p:spPr>
            <a:xfrm>
              <a:off x="2703871" y="2689744"/>
              <a:ext cx="16813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Backend Server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303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rPr sz="4800" b="1" dirty="0">
                <a:solidFill>
                  <a:srgbClr val="70AD47"/>
                </a:solidFill>
              </a:rPr>
              <a:t>Why Use Redis?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t>Ultra-low latency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t>High throughput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t>Simple commands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t>Versatile system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t>Popular in modern backend architectures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rPr sz="4800" b="1" dirty="0">
                <a:solidFill>
                  <a:srgbClr val="70AD47"/>
                </a:solidFill>
              </a:rPr>
              <a:t>Installation &amp; CLI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Install via Linux/macOS/WSL/Docker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/>
              <a:t>Running the server: </a:t>
            </a:r>
            <a:r>
              <a:rPr dirty="0">
                <a:solidFill>
                  <a:srgbClr val="70AD47"/>
                </a:solidFill>
              </a:rPr>
              <a:t>redis-server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/>
              <a:t>Connecting to Redis CLI: </a:t>
            </a:r>
            <a:r>
              <a:rPr dirty="0">
                <a:solidFill>
                  <a:srgbClr val="70AD47"/>
                </a:solidFill>
              </a:rPr>
              <a:t>redis-cli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endParaRPr lang="en-US" dirty="0"/>
          </a:p>
          <a:p>
            <a:pPr marL="0" indent="0">
              <a:buNone/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/>
              <a:t>Essential commands:</a:t>
            </a:r>
            <a:endParaRPr lang="en-US" dirty="0"/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70AD47"/>
                </a:solidFill>
              </a:rPr>
              <a:t>PING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70AD47"/>
                </a:solidFill>
              </a:rPr>
              <a:t>SET</a:t>
            </a:r>
            <a:r>
              <a:rPr dirty="0"/>
              <a:t> key value / </a:t>
            </a:r>
            <a:r>
              <a:rPr dirty="0">
                <a:solidFill>
                  <a:srgbClr val="70AD47"/>
                </a:solidFill>
              </a:rPr>
              <a:t>GET</a:t>
            </a:r>
            <a:r>
              <a:rPr dirty="0"/>
              <a:t>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rPr sz="4000" b="1" dirty="0">
                <a:solidFill>
                  <a:srgbClr val="70AD47"/>
                </a:solidFill>
              </a:rPr>
              <a:t>Redis Data Types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Redis has </a:t>
            </a:r>
            <a:r>
              <a:rPr lang="en-US" b="1" dirty="0">
                <a:solidFill>
                  <a:schemeClr val="bg1"/>
                </a:solidFill>
              </a:rPr>
              <a:t>five essential data types:</a:t>
            </a:r>
            <a:endParaRPr dirty="0">
              <a:solidFill>
                <a:schemeClr val="bg1"/>
              </a:solidFill>
            </a:endParaRP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Strings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Lists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Sets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Hashes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Sorted Sets (ZSET)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74" y="1492047"/>
            <a:ext cx="8229600" cy="208689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70AD47"/>
                </a:solidFill>
              </a:rPr>
              <a:t>Strings:</a:t>
            </a:r>
            <a:endParaRPr dirty="0">
              <a:solidFill>
                <a:srgbClr val="70AD47"/>
              </a:solidFill>
            </a:endParaRP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Stores text, numbers, JSON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/>
              <a:t>Commands: </a:t>
            </a:r>
            <a:r>
              <a:rPr dirty="0">
                <a:solidFill>
                  <a:srgbClr val="70AD47"/>
                </a:solidFill>
              </a:rPr>
              <a:t>SET</a:t>
            </a:r>
            <a:r>
              <a:rPr dirty="0"/>
              <a:t> / </a:t>
            </a:r>
            <a:r>
              <a:rPr dirty="0">
                <a:solidFill>
                  <a:srgbClr val="70AD47"/>
                </a:solidFill>
              </a:rPr>
              <a:t>GET</a:t>
            </a:r>
            <a:r>
              <a:rPr dirty="0"/>
              <a:t> / </a:t>
            </a:r>
            <a:r>
              <a:rPr dirty="0">
                <a:solidFill>
                  <a:srgbClr val="70AD47"/>
                </a:solidFill>
              </a:rPr>
              <a:t>INCR</a:t>
            </a:r>
            <a:r>
              <a:rPr dirty="0"/>
              <a:t> / </a:t>
            </a:r>
            <a:r>
              <a:rPr dirty="0">
                <a:solidFill>
                  <a:srgbClr val="70AD47"/>
                </a:solidFill>
              </a:rPr>
              <a:t>APPEND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Use for caching, counters, sessions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D85B54A-E7E3-9B17-97BD-6E144D5A245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rPr lang="en-US" sz="4000" b="1" dirty="0">
                <a:solidFill>
                  <a:srgbClr val="70AD47"/>
                </a:solidFill>
                <a:latin typeface="Calibri"/>
              </a:rPr>
              <a:t>Redis Data Types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0F838B4-DC35-0651-CAD7-9285C1815806}"/>
              </a:ext>
            </a:extLst>
          </p:cNvPr>
          <p:cNvSpPr txBox="1">
            <a:spLocks/>
          </p:cNvSpPr>
          <p:nvPr/>
        </p:nvSpPr>
        <p:spPr>
          <a:xfrm>
            <a:off x="403125" y="3365093"/>
            <a:ext cx="8229600" cy="2086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solidFill>
                  <a:srgbClr val="70AD47"/>
                </a:solidFill>
              </a:rPr>
              <a:t>Lists: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>
                <a:solidFill>
                  <a:srgbClr val="FFFFFF"/>
                </a:solidFill>
                <a:latin typeface="Calibri"/>
              </a:rPr>
              <a:t>Stores 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o</a:t>
            </a:r>
            <a:r>
              <a:rPr lang="en-US" dirty="0"/>
              <a:t>rdered linked list</a:t>
            </a:r>
            <a:endParaRPr lang="en-US" sz="2400" dirty="0">
              <a:solidFill>
                <a:srgbClr val="FFFFFF"/>
              </a:solidFill>
              <a:latin typeface="Calibri"/>
            </a:endParaRP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>
                <a:solidFill>
                  <a:srgbClr val="FFFFFF"/>
                </a:solidFill>
                <a:latin typeface="Calibri"/>
              </a:rPr>
              <a:t>Commands: </a:t>
            </a:r>
            <a:r>
              <a:rPr lang="en-US" dirty="0">
                <a:solidFill>
                  <a:srgbClr val="70AD47"/>
                </a:solidFill>
              </a:rPr>
              <a:t>LPUSH</a:t>
            </a:r>
            <a:r>
              <a:rPr lang="en-US" dirty="0"/>
              <a:t> / </a:t>
            </a:r>
            <a:r>
              <a:rPr lang="en-US" dirty="0">
                <a:solidFill>
                  <a:srgbClr val="70AD47"/>
                </a:solidFill>
              </a:rPr>
              <a:t>RPUSH</a:t>
            </a:r>
            <a:r>
              <a:rPr lang="en-US" dirty="0"/>
              <a:t> / </a:t>
            </a:r>
            <a:r>
              <a:rPr lang="en-US" dirty="0">
                <a:solidFill>
                  <a:srgbClr val="70AD47"/>
                </a:solidFill>
              </a:rPr>
              <a:t>LPOP</a:t>
            </a:r>
            <a:r>
              <a:rPr lang="en-US" dirty="0"/>
              <a:t> / </a:t>
            </a:r>
            <a:r>
              <a:rPr lang="en-US" dirty="0">
                <a:solidFill>
                  <a:srgbClr val="70AD47"/>
                </a:solidFill>
              </a:rPr>
              <a:t>LRANGE</a:t>
            </a:r>
            <a:endParaRPr lang="en-US" sz="2400" dirty="0">
              <a:solidFill>
                <a:srgbClr val="70AD47"/>
              </a:solidFill>
              <a:latin typeface="Calibri"/>
            </a:endParaRP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>
                <a:solidFill>
                  <a:srgbClr val="FFFFFF"/>
                </a:solidFill>
                <a:latin typeface="Calibri"/>
              </a:rPr>
              <a:t>Use</a:t>
            </a:r>
            <a:r>
              <a:rPr lang="en-US" dirty="0"/>
              <a:t> for queues, logs, feeds</a:t>
            </a:r>
            <a:endParaRPr lang="en-US" sz="24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39FA2-DB25-FDA5-2B39-EC6119DFF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48FB2-31BA-27EA-9966-D243F7094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74" y="1492047"/>
            <a:ext cx="8229600" cy="2086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0AD47"/>
                </a:solidFill>
              </a:rPr>
              <a:t>Sets:</a:t>
            </a:r>
            <a:endParaRPr dirty="0">
              <a:solidFill>
                <a:srgbClr val="70AD47"/>
              </a:solidFill>
            </a:endParaRP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Stores </a:t>
            </a:r>
            <a:r>
              <a:rPr lang="en-US" dirty="0"/>
              <a:t>unique unordered values</a:t>
            </a:r>
            <a:endParaRPr dirty="0"/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/>
              <a:t>Commands: </a:t>
            </a:r>
            <a:r>
              <a:rPr lang="en-US" dirty="0">
                <a:solidFill>
                  <a:srgbClr val="70AD47"/>
                </a:solidFill>
              </a:rPr>
              <a:t>SADD</a:t>
            </a:r>
            <a:r>
              <a:rPr lang="en-US" dirty="0"/>
              <a:t> / </a:t>
            </a:r>
            <a:r>
              <a:rPr lang="en-US" dirty="0">
                <a:solidFill>
                  <a:srgbClr val="70AD47"/>
                </a:solidFill>
              </a:rPr>
              <a:t>SMEMBERS</a:t>
            </a:r>
            <a:r>
              <a:rPr lang="en-US" dirty="0"/>
              <a:t> / </a:t>
            </a:r>
            <a:r>
              <a:rPr lang="en-US" dirty="0">
                <a:solidFill>
                  <a:srgbClr val="70AD47"/>
                </a:solidFill>
              </a:rPr>
              <a:t>SISMEMBER</a:t>
            </a:r>
            <a:endParaRPr dirty="0">
              <a:solidFill>
                <a:srgbClr val="70AD47"/>
              </a:solidFill>
            </a:endParaRP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Use </a:t>
            </a:r>
            <a:r>
              <a:rPr lang="en-US" dirty="0"/>
              <a:t>for tags, unique visitors</a:t>
            </a:r>
            <a:endParaRPr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10A3416-EA09-C52C-9AA2-6ED7D1CBD23D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rPr lang="en-US" sz="4000" b="1" dirty="0">
                <a:solidFill>
                  <a:srgbClr val="70AD47"/>
                </a:solidFill>
                <a:latin typeface="Calibri"/>
              </a:rPr>
              <a:t>Redis Data Types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F4BDCC-A0A0-C0F9-2CD0-9928B011AD08}"/>
              </a:ext>
            </a:extLst>
          </p:cNvPr>
          <p:cNvSpPr txBox="1">
            <a:spLocks/>
          </p:cNvSpPr>
          <p:nvPr/>
        </p:nvSpPr>
        <p:spPr>
          <a:xfrm>
            <a:off x="403125" y="3689558"/>
            <a:ext cx="8229600" cy="2086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>
                <a:solidFill>
                  <a:srgbClr val="70AD47"/>
                </a:solidFill>
              </a:rPr>
              <a:t>Hashes: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>
                <a:solidFill>
                  <a:srgbClr val="FFFFFF"/>
                </a:solidFill>
                <a:latin typeface="Calibri"/>
              </a:rPr>
              <a:t>Stores </a:t>
            </a:r>
            <a:r>
              <a:rPr lang="en-US" dirty="0"/>
              <a:t>fields under one key</a:t>
            </a:r>
            <a:endParaRPr lang="en-US" sz="2400" dirty="0">
              <a:solidFill>
                <a:srgbClr val="FFFFFF"/>
              </a:solidFill>
              <a:latin typeface="Calibri"/>
            </a:endParaRP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>
                <a:solidFill>
                  <a:srgbClr val="FFFFFF"/>
                </a:solidFill>
                <a:latin typeface="Calibri"/>
              </a:rPr>
              <a:t>Commands: </a:t>
            </a:r>
            <a:r>
              <a:rPr lang="en-US" dirty="0">
                <a:solidFill>
                  <a:srgbClr val="70AD47"/>
                </a:solidFill>
              </a:rPr>
              <a:t>HSET</a:t>
            </a:r>
            <a:r>
              <a:rPr lang="en-US" dirty="0"/>
              <a:t> / </a:t>
            </a:r>
            <a:r>
              <a:rPr lang="en-US" dirty="0">
                <a:solidFill>
                  <a:srgbClr val="70AD47"/>
                </a:solidFill>
              </a:rPr>
              <a:t>HGET</a:t>
            </a:r>
            <a:r>
              <a:rPr lang="en-US" dirty="0"/>
              <a:t> / </a:t>
            </a:r>
            <a:r>
              <a:rPr lang="en-US" dirty="0">
                <a:solidFill>
                  <a:srgbClr val="70AD47"/>
                </a:solidFill>
              </a:rPr>
              <a:t>HGETALL</a:t>
            </a:r>
            <a:endParaRPr lang="en-US" sz="2400" dirty="0">
              <a:solidFill>
                <a:srgbClr val="70AD47"/>
              </a:solidFill>
              <a:latin typeface="Calibri"/>
            </a:endParaRP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>
                <a:solidFill>
                  <a:srgbClr val="FFFFFF"/>
                </a:solidFill>
                <a:latin typeface="Calibri"/>
              </a:rPr>
              <a:t>Use </a:t>
            </a:r>
            <a:r>
              <a:rPr lang="en-US" dirty="0"/>
              <a:t>for user profiles, product data</a:t>
            </a:r>
            <a:endParaRPr lang="en-US" sz="240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6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0116F4-517C-66CB-397D-5A61478DC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B7D68-11E3-91EC-23BB-FE99174A6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74" y="1492047"/>
            <a:ext cx="8229600" cy="2086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70AD47"/>
                </a:solidFill>
              </a:rPr>
              <a:t>Sorted Sets (ZSET):</a:t>
            </a:r>
            <a:endParaRPr dirty="0">
              <a:solidFill>
                <a:srgbClr val="70AD47"/>
              </a:solidFill>
            </a:endParaRP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Stores</a:t>
            </a:r>
            <a:r>
              <a:rPr lang="en-US" dirty="0"/>
              <a:t> unique values sorted by score</a:t>
            </a:r>
            <a:endParaRPr dirty="0"/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/>
              <a:t>Commands: </a:t>
            </a:r>
            <a:r>
              <a:rPr lang="en-US" dirty="0">
                <a:solidFill>
                  <a:srgbClr val="70AD47"/>
                </a:solidFill>
              </a:rPr>
              <a:t>ZADD</a:t>
            </a:r>
            <a:r>
              <a:rPr lang="en-US" dirty="0"/>
              <a:t> / </a:t>
            </a:r>
            <a:r>
              <a:rPr lang="en-US" dirty="0">
                <a:solidFill>
                  <a:srgbClr val="70AD47"/>
                </a:solidFill>
              </a:rPr>
              <a:t>ZRANGE</a:t>
            </a:r>
            <a:endParaRPr dirty="0">
              <a:solidFill>
                <a:srgbClr val="70AD47"/>
              </a:solidFill>
            </a:endParaRP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Use </a:t>
            </a:r>
            <a:r>
              <a:rPr lang="en-US" dirty="0"/>
              <a:t>for </a:t>
            </a:r>
            <a:r>
              <a:rPr lang="en-US" sz="2400" dirty="0"/>
              <a:t>leaderboards, ranking, timestamp-sorted events</a:t>
            </a:r>
            <a:endParaRPr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DD669E8-5846-BB6A-8BAC-B10E51CDCA05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rPr lang="en-US" sz="4000" b="1" dirty="0">
                <a:solidFill>
                  <a:srgbClr val="70AD47"/>
                </a:solidFill>
                <a:latin typeface="Calibri"/>
              </a:rPr>
              <a:t>Redis Data Types</a:t>
            </a:r>
          </a:p>
        </p:txBody>
      </p:sp>
    </p:spTree>
    <p:extLst>
      <p:ext uri="{BB962C8B-B14F-4D97-AF65-F5344CB8AC3E}">
        <p14:creationId xmlns:p14="http://schemas.microsoft.com/office/powerpoint/2010/main" val="1846315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619"/>
            <a:ext cx="8229600" cy="858753"/>
          </a:xfrm>
        </p:spPr>
        <p:txBody>
          <a:bodyPr>
            <a:normAutofit/>
          </a:bodyPr>
          <a:lstStyle/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rPr sz="4000" b="1" dirty="0">
                <a:solidFill>
                  <a:srgbClr val="70AD47"/>
                </a:solidFill>
              </a:rPr>
              <a:t>Key Expiry &amp; TTL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380" y="2219632"/>
            <a:ext cx="8229600" cy="2873477"/>
          </a:xfrm>
        </p:spPr>
        <p:txBody>
          <a:bodyPr/>
          <a:lstStyle/>
          <a:p>
            <a:endParaRPr dirty="0"/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EXPIRE key 60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TTL key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SET key value EX 60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Use for caching &amp; tokens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A9461-F6C6-A110-3219-0D9A20DCDDC8}"/>
              </a:ext>
            </a:extLst>
          </p:cNvPr>
          <p:cNvSpPr txBox="1"/>
          <p:nvPr/>
        </p:nvSpPr>
        <p:spPr>
          <a:xfrm>
            <a:off x="993058" y="1238862"/>
            <a:ext cx="6590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Redis can automatically delete keys after a period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465" y="274638"/>
            <a:ext cx="8362335" cy="747917"/>
          </a:xfrm>
        </p:spPr>
        <p:txBody>
          <a:bodyPr/>
          <a:lstStyle/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rPr b="1" dirty="0">
                <a:solidFill>
                  <a:srgbClr val="70AD47"/>
                </a:solidFill>
              </a:rPr>
              <a:t>Persistence</a:t>
            </a:r>
            <a:r>
              <a:rPr lang="en-US" b="1" dirty="0">
                <a:solidFill>
                  <a:srgbClr val="70AD47"/>
                </a:solidFill>
              </a:rPr>
              <a:t> (</a:t>
            </a:r>
            <a:r>
              <a:rPr lang="en-US" sz="3600" b="1" dirty="0">
                <a:solidFill>
                  <a:srgbClr val="70AD47"/>
                </a:solidFill>
              </a:rPr>
              <a:t>Saving Data to Disk)</a:t>
            </a:r>
            <a:endParaRPr b="1" dirty="0">
              <a:solidFill>
                <a:srgbClr val="70AD47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331" y="2111478"/>
            <a:ext cx="8229600" cy="452596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 marL="0" indent="0">
              <a:buNone/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70AD47"/>
                </a:solidFill>
              </a:rPr>
              <a:t>RDB snapshotting</a:t>
            </a:r>
            <a:endParaRPr lang="en-US" dirty="0">
              <a:solidFill>
                <a:srgbClr val="70AD47"/>
              </a:solidFill>
            </a:endParaRP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Saves data at intervals.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Fast, smaller files.</a:t>
            </a:r>
          </a:p>
          <a:p>
            <a:pPr marL="0" indent="0">
              <a:buNone/>
              <a:defRPr sz="240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marL="0" indent="0">
              <a:buNone/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70AD47"/>
                </a:solidFill>
              </a:rPr>
              <a:t>AOF</a:t>
            </a:r>
            <a:r>
              <a:rPr lang="en-US" dirty="0">
                <a:solidFill>
                  <a:srgbClr val="70AD47"/>
                </a:solidFill>
              </a:rPr>
              <a:t> (Append Only File) </a:t>
            </a:r>
            <a:r>
              <a:rPr dirty="0">
                <a:solidFill>
                  <a:srgbClr val="70AD47"/>
                </a:solidFill>
              </a:rPr>
              <a:t>logging</a:t>
            </a:r>
            <a:endParaRPr lang="en-US" dirty="0">
              <a:solidFill>
                <a:srgbClr val="70AD47"/>
              </a:solidFill>
            </a:endParaRP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Logs every write operation.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Durable and safe.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 marL="0" indent="0">
              <a:buNone/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rgbClr val="70AD47"/>
                </a:solidFill>
              </a:rPr>
              <a:t>Hybrid persistence</a:t>
            </a:r>
            <a:endParaRPr lang="en-US" dirty="0">
              <a:solidFill>
                <a:srgbClr val="70AD47"/>
              </a:solidFill>
            </a:endParaRP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lang="en-US" sz="2400" dirty="0"/>
              <a:t>Modern Redis mixes both for balance.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006399-2155-85B0-4A61-050508D9B95B}"/>
              </a:ext>
            </a:extLst>
          </p:cNvPr>
          <p:cNvSpPr txBox="1"/>
          <p:nvPr/>
        </p:nvSpPr>
        <p:spPr>
          <a:xfrm>
            <a:off x="869161" y="1197312"/>
            <a:ext cx="7974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Redis stores data in memory, but can persist data using RDB and AOF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rPr sz="4000" dirty="0">
                <a:solidFill>
                  <a:srgbClr val="70AD47"/>
                </a:solidFill>
              </a:rPr>
              <a:t>Redis in Real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API caching, rate limiting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Job queues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Leaderboards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Analytics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3600">
                <a:solidFill>
                  <a:srgbClr val="FFFFFF"/>
                </a:solidFill>
                <a:latin typeface="Calibri"/>
              </a:defRPr>
            </a:pPr>
            <a:r>
              <a:rPr sz="4000" dirty="0">
                <a:solidFill>
                  <a:srgbClr val="70AD47"/>
                </a:solidFill>
              </a:rPr>
              <a:t>Integrating Redis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Node: ioredis / redis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Python: redis-</a:t>
            </a:r>
            <a:r>
              <a:rPr dirty="0" err="1"/>
              <a:t>py</a:t>
            </a:r>
            <a:endParaRPr dirty="0"/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Go: go-redis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rPr dirty="0"/>
              <a:t>Java: jedis / lettuce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E3F869-4E31-D35F-1019-BEC42534BE89}"/>
              </a:ext>
            </a:extLst>
          </p:cNvPr>
          <p:cNvSpPr txBox="1"/>
          <p:nvPr/>
        </p:nvSpPr>
        <p:spPr>
          <a:xfrm>
            <a:off x="1076239" y="6099434"/>
            <a:ext cx="3244645" cy="461665"/>
          </a:xfrm>
          <a:prstGeom prst="rect">
            <a:avLst/>
          </a:prstGeom>
          <a:noFill/>
          <a:ln>
            <a:solidFill>
              <a:srgbClr val="70AD47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rgbClr val="70AD47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374</Words>
  <Application>Microsoft Office PowerPoint</Application>
  <PresentationFormat>On-screen Show (4:3)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What is Redis?</vt:lpstr>
      <vt:lpstr>Redis High Level Overview</vt:lpstr>
      <vt:lpstr>Why Use Redis?</vt:lpstr>
      <vt:lpstr>Installation &amp; CLI Basics</vt:lpstr>
      <vt:lpstr>Redis Data Types (Overview)</vt:lpstr>
      <vt:lpstr>PowerPoint Presentation</vt:lpstr>
      <vt:lpstr>PowerPoint Presentation</vt:lpstr>
      <vt:lpstr>PowerPoint Presentation</vt:lpstr>
      <vt:lpstr>Key Expiry &amp; TTL</vt:lpstr>
      <vt:lpstr>Persistence (Saving Data to Disk)</vt:lpstr>
      <vt:lpstr>Redis in Real Applications</vt:lpstr>
      <vt:lpstr>Integrating Redis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CHRISTIAN  OKEKE</cp:lastModifiedBy>
  <cp:revision>15</cp:revision>
  <dcterms:created xsi:type="dcterms:W3CDTF">2013-01-27T09:14:16Z</dcterms:created>
  <dcterms:modified xsi:type="dcterms:W3CDTF">2025-11-22T19:48:11Z</dcterms:modified>
  <cp:category/>
</cp:coreProperties>
</file>