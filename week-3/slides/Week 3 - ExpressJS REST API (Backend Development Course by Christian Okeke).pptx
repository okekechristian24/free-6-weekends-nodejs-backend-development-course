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5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91919"/>
    <a:srgbClr val="222222"/>
    <a:srgbClr val="636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C941-3A21-2AB7-6604-968635A99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82507-73C1-FA62-F919-6A44D2C1C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F415A-D7FB-7F71-B080-11843873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5FF6A-D146-D3CD-E6A3-810E93E21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B2E9C-15B8-2748-FB9B-EA597A6E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8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0ED9-E2B2-4A1D-6FE5-4A8AB9431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08EB6-3B58-8C73-97F3-0D412C67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BC3C-EC3A-90E1-09BC-6622AB549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52C25-C228-390D-8EBE-4D69F70EB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48A92-BAEC-0CE2-B6A5-3ADF7C3D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00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D8823-3386-EC0F-EB27-01F21838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286ED-3F5D-19BA-5D18-3F2F4B3D1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BF11B-5E35-5DD9-45F4-BAB4DDBA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A7E58-C200-CE9C-A8D6-871FAB18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E7EFC-1E73-2557-B37A-46BD5E57E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5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01B7-3820-65E4-EF85-48D68FB1A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4E91E-D454-F823-0D68-D0DBF1360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744E22-FDFE-75B7-5B32-BFD6BB001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4BFCF-CAC3-6300-BB6A-C60F0859B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CA505-3EB0-ACEA-800B-E68BE281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4BD58-E3EE-861C-B97B-0D3C1EE9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36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3891-5A80-0C9F-5612-2CD00A8D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AA6E1-788D-1814-E255-54FBC788A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92E2E-B93F-031B-904D-DF82AD451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49598-A29F-38AE-A544-8E3457910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3BF71-0A2B-A2B5-4A34-24B3E0A7ED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B9A63-03B9-4C20-47BA-5BB1B3BC2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15CF4C-79C2-1401-E311-8BEE8922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FA3C9-8BCA-2BB9-84AC-A0698F4A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2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9009-E316-1421-D9E0-4AB70A7D4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1BA260-2D4A-5469-E2AA-62966E4C8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82BD63-70F0-C47D-78E5-7E8389ED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68DD65-A229-EBB8-D71A-D85C16567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7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C8785-5752-B092-9D8A-8F9A8192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B53F8D-970F-B1F0-BF22-9E8DF5B8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F23FA-13CA-5BD3-11E9-BF73EE1E1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6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AF084-2B37-8973-B804-4B538F9FA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99AAD-2225-AD6C-0D77-E9EE054C2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F0CB0-C70D-BBF6-A12F-EBC6639F1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2BD70-5A93-A34C-DD43-C19F06F6B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24D6B-D08D-C6CB-8E30-F7A3C3CAB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23529-D4D4-15CA-E464-30558F6B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95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5B7A-D876-C386-FAF1-B681E827E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9DB7B1-F29B-5DED-2D67-C185DA3E4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BBF9CD-C521-041B-6D41-84C52FFE5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2507B-0B1B-35A1-B0BF-69240419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5137A-3E56-6BB2-0905-A193FE87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BE56D-8C92-37CA-6649-19D8D272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71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C759-2403-B7CC-1776-5ED763FEE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2A3AE-637D-5D1C-D763-54DF7B51D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53E30-5252-71C0-DA70-7046B7DB9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54C28-E78C-4552-C27E-212D7DB6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AF470-508A-5BF8-F525-5254414A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9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85609C-8E10-FCA6-BACA-EA23E4869C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B88BD-2A23-E8F6-EF55-BEB92C86B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5C034-E4C4-D825-56D0-116BA037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23B7A-5934-4F5A-8C7D-D0F7EE1498F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7A7DE-E7FB-4842-76A0-2CB61483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C3C9D-69E9-9334-1A6F-DB4E2DBF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83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7836B-7E4D-D881-EBF9-DCB649194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ABA5A-3F3B-0E97-F867-16BAD7626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C41CB-5983-6627-8CBD-30E162642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23B7A-5934-4F5A-8C7D-D0F7EE1498FC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B34DB-B5CB-3BD1-05FE-E28574EC9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7E62D-4F75-4E5C-B36B-717B83AAC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E0C1F-F3B1-473B-A83B-FB178DF13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3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6DF2B-1972-4645-95F8-B23E0E7F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AD935304-51E5-B423-1248-3858F0F53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51" y="1051851"/>
            <a:ext cx="10667337" cy="93359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Express.js </a:t>
            </a:r>
            <a:r>
              <a:rPr lang="en-US" dirty="0">
                <a:solidFill>
                  <a:schemeClr val="bg1"/>
                </a:solidFill>
              </a:rPr>
              <a:t>is a minimal and flexible Node.js web framework used to build APIs and web servers.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EA7F081-55AE-D3D3-1C8C-2107735A4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78323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What is ExpressJS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2DD584-2860-0E76-5EB3-499636481756}"/>
              </a:ext>
            </a:extLst>
          </p:cNvPr>
          <p:cNvGrpSpPr/>
          <p:nvPr/>
        </p:nvGrpSpPr>
        <p:grpSpPr>
          <a:xfrm>
            <a:off x="1032385" y="2536723"/>
            <a:ext cx="10343542" cy="3010959"/>
            <a:chOff x="1238862" y="1199535"/>
            <a:chExt cx="10343542" cy="301095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B156C63-CC77-E960-37C0-6099202F718F}"/>
                </a:ext>
              </a:extLst>
            </p:cNvPr>
            <p:cNvSpPr txBox="1"/>
            <p:nvPr/>
          </p:nvSpPr>
          <p:spPr>
            <a:xfrm>
              <a:off x="1238862" y="2083630"/>
              <a:ext cx="8396749" cy="2126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bg1"/>
                  </a:solidFill>
                </a:rPr>
                <a:t>Lightweight and fast 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bg1"/>
                  </a:solidFill>
                </a:rPr>
                <a:t>Middleware-based architecture 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bg1"/>
                  </a:solidFill>
                </a:rPr>
                <a:t>Easy routing system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bg1"/>
                  </a:solidFill>
                </a:rPr>
                <a:t>Supports RESTful APIs 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bg1"/>
                  </a:solidFill>
                </a:rPr>
                <a:t>Integrates easily with databases (MySQL, MongoDB, etc.)</a:t>
              </a:r>
            </a:p>
          </p:txBody>
        </p:sp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80372102-46AB-54B8-CF5B-14A324F9AAAE}"/>
                </a:ext>
              </a:extLst>
            </p:cNvPr>
            <p:cNvSpPr txBox="1">
              <a:spLocks/>
            </p:cNvSpPr>
            <p:nvPr/>
          </p:nvSpPr>
          <p:spPr>
            <a:xfrm>
              <a:off x="1248701" y="1199535"/>
              <a:ext cx="10333703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200" b="1" dirty="0">
                  <a:solidFill>
                    <a:schemeClr val="accent6">
                      <a:lumMod val="75000"/>
                    </a:schemeClr>
                  </a:solidFill>
                </a:rPr>
                <a:t>Key features: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194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B782F4-0C59-41ED-4E20-5CBEE859D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0F6F9AF5-923D-2A06-FC5D-C07C17D5D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51" y="1051851"/>
            <a:ext cx="10667337" cy="933598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Express.js </a:t>
            </a:r>
            <a:r>
              <a:rPr lang="en-US" dirty="0">
                <a:solidFill>
                  <a:schemeClr val="bg1"/>
                </a:solidFill>
              </a:rPr>
              <a:t>is a minimal and flexible Node.js web framework used to build APIs and web servers.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1E9EC4F-3CA0-91D8-1E88-AF5953BDE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78323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Why Use ExpressJS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A0E626A-EF77-7E46-ADA5-CA00657CE603}"/>
              </a:ext>
            </a:extLst>
          </p:cNvPr>
          <p:cNvGrpSpPr/>
          <p:nvPr/>
        </p:nvGrpSpPr>
        <p:grpSpPr>
          <a:xfrm>
            <a:off x="1032385" y="2536723"/>
            <a:ext cx="10343542" cy="2595461"/>
            <a:chOff x="1238862" y="1199535"/>
            <a:chExt cx="10343542" cy="259546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1A1DC2A-0496-A525-1355-B7F12FEC00B9}"/>
                </a:ext>
              </a:extLst>
            </p:cNvPr>
            <p:cNvSpPr txBox="1"/>
            <p:nvPr/>
          </p:nvSpPr>
          <p:spPr>
            <a:xfrm>
              <a:off x="1238862" y="2083630"/>
              <a:ext cx="8396749" cy="1711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bg1"/>
                  </a:solidFill>
                </a:rPr>
                <a:t>Simplifies Node.js server creation.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bg1"/>
                  </a:solidFill>
                </a:rPr>
                <a:t>Handles routing and requests efficiently.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bg1"/>
                  </a:solidFill>
                </a:rPr>
                <a:t>Supports middleware (for logging, authentication, etc.).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bg1"/>
                  </a:solidFill>
                </a:rPr>
                <a:t>Large community and ecosystem.</a:t>
              </a:r>
            </a:p>
          </p:txBody>
        </p:sp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81C796A3-7D19-4797-1F26-0E1F7E4E3F72}"/>
                </a:ext>
              </a:extLst>
            </p:cNvPr>
            <p:cNvSpPr txBox="1">
              <a:spLocks/>
            </p:cNvSpPr>
            <p:nvPr/>
          </p:nvSpPr>
          <p:spPr>
            <a:xfrm>
              <a:off x="1248701" y="1199535"/>
              <a:ext cx="10333703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200" b="1" dirty="0">
                  <a:solidFill>
                    <a:schemeClr val="accent6">
                      <a:lumMod val="75000"/>
                    </a:schemeClr>
                  </a:solidFill>
                </a:rPr>
                <a:t>Advantages: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1263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7E7C8-226B-0B2F-0A8D-14145EC3D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07670315-209A-B383-E3AD-A287A7684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0878" y="1681117"/>
            <a:ext cx="10667337" cy="933598"/>
          </a:xfrm>
        </p:spPr>
        <p:txBody>
          <a:bodyPr>
            <a:normAutofit/>
          </a:bodyPr>
          <a:lstStyle/>
          <a:p>
            <a:pPr algn="just"/>
            <a:r>
              <a:rPr lang="en-US" i="1" dirty="0">
                <a:solidFill>
                  <a:schemeClr val="accent4"/>
                </a:solidFill>
              </a:rPr>
              <a:t>npm install express</a:t>
            </a:r>
          </a:p>
          <a:p>
            <a:pPr algn="just"/>
            <a:r>
              <a:rPr lang="en-US" i="1" dirty="0">
                <a:solidFill>
                  <a:schemeClr val="accent4"/>
                </a:solidFill>
              </a:rPr>
              <a:t>npm install --save-dev typescript </a:t>
            </a:r>
            <a:r>
              <a:rPr lang="en-US" i="1" dirty="0" err="1">
                <a:solidFill>
                  <a:schemeClr val="accent4"/>
                </a:solidFill>
              </a:rPr>
              <a:t>ts</a:t>
            </a:r>
            <a:r>
              <a:rPr lang="en-US" i="1" dirty="0">
                <a:solidFill>
                  <a:schemeClr val="accent4"/>
                </a:solidFill>
              </a:rPr>
              <a:t>-node-dev @types/node @types/express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A7AAFBD-0177-1D1D-1013-2EB477C76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78323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ExpressJS + TypeScript Setup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14A88E-6871-F0D3-C0AC-2D14CE91534A}"/>
              </a:ext>
            </a:extLst>
          </p:cNvPr>
          <p:cNvGrpSpPr/>
          <p:nvPr/>
        </p:nvGrpSpPr>
        <p:grpSpPr>
          <a:xfrm>
            <a:off x="1032385" y="2801528"/>
            <a:ext cx="10343542" cy="4716530"/>
            <a:chOff x="1238862" y="1199535"/>
            <a:chExt cx="10343542" cy="407527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A039875-1F67-6CC5-C74E-198ACFFEEB7A}"/>
                </a:ext>
              </a:extLst>
            </p:cNvPr>
            <p:cNvSpPr txBox="1"/>
            <p:nvPr/>
          </p:nvSpPr>
          <p:spPr>
            <a:xfrm>
              <a:off x="1238862" y="2083630"/>
              <a:ext cx="8396749" cy="3191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pPr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"compilerOptions"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: {</a:t>
              </a:r>
            </a:p>
            <a:p>
              <a:pPr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"target"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"ES2020"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"module"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"commonjs"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"strict"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"esModuleInterop"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true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</a:t>
              </a:r>
            </a:p>
            <a:p>
              <a:pPr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"outDir"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"./dist"</a:t>
              </a:r>
              <a:endPara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},</a:t>
              </a:r>
            </a:p>
            <a:p>
              <a:pPr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"include"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: [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"src/**/*.ts"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]</a:t>
              </a:r>
            </a:p>
            <a:p>
              <a:pPr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  <a:p>
              <a:pPr>
                <a:buNone/>
              </a:pPr>
              <a:b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endPara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 marL="342900" indent="-342900">
                <a:buFont typeface="+mj-lt"/>
                <a:buAutoNum type="arabicPeriod"/>
              </a:pPr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E2E397F7-7311-2B00-28FF-44F3BEB89A25}"/>
                </a:ext>
              </a:extLst>
            </p:cNvPr>
            <p:cNvSpPr txBox="1">
              <a:spLocks/>
            </p:cNvSpPr>
            <p:nvPr/>
          </p:nvSpPr>
          <p:spPr>
            <a:xfrm>
              <a:off x="1248701" y="1199535"/>
              <a:ext cx="10333703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200" b="1" dirty="0">
                  <a:solidFill>
                    <a:schemeClr val="accent6">
                      <a:lumMod val="75000"/>
                    </a:schemeClr>
                  </a:solidFill>
                </a:rPr>
                <a:t>tsconfig.json file:</a:t>
              </a: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17B5E557-58CA-BC4F-60B1-5B99E290CD0D}"/>
              </a:ext>
            </a:extLst>
          </p:cNvPr>
          <p:cNvSpPr txBox="1">
            <a:spLocks/>
          </p:cNvSpPr>
          <p:nvPr/>
        </p:nvSpPr>
        <p:spPr>
          <a:xfrm>
            <a:off x="1042224" y="757082"/>
            <a:ext cx="10333703" cy="8567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Installation command:</a:t>
            </a:r>
          </a:p>
        </p:txBody>
      </p:sp>
    </p:spTree>
    <p:extLst>
      <p:ext uri="{BB962C8B-B14F-4D97-AF65-F5344CB8AC3E}">
        <p14:creationId xmlns:p14="http://schemas.microsoft.com/office/powerpoint/2010/main" val="195228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DEDE36-0CAA-4BB5-AD31-87C25260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3F86093-3E78-009A-45C1-3F9A348B7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78323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Creating a Basic Server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CC3C01-FF74-363B-8822-4070692ABE9A}"/>
              </a:ext>
            </a:extLst>
          </p:cNvPr>
          <p:cNvSpPr txBox="1"/>
          <p:nvPr/>
        </p:nvSpPr>
        <p:spPr>
          <a:xfrm>
            <a:off x="1356850" y="1278179"/>
            <a:ext cx="927182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src/index.ts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"express"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"Hello, Express with TypeScript!"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`Server running at http://localhost: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655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C4658-6B14-7662-F706-C4742EC49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0997F728-635A-125A-AA3E-745371C3C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7251" y="1051851"/>
            <a:ext cx="10667337" cy="93359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Middleware functions are executed during the request → response cycle.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62DA85C-B0AB-41E0-7A49-7404BCC5C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78323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Middleware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A3CB88B-F6AC-6E6F-35ED-F7EF63F23BB3}"/>
              </a:ext>
            </a:extLst>
          </p:cNvPr>
          <p:cNvGrpSpPr/>
          <p:nvPr/>
        </p:nvGrpSpPr>
        <p:grpSpPr>
          <a:xfrm>
            <a:off x="1032385" y="1238862"/>
            <a:ext cx="10343542" cy="3385591"/>
            <a:chOff x="1238862" y="1238863"/>
            <a:chExt cx="10343542" cy="338559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30E921E-045C-14BD-9284-776675B62D2E}"/>
                </a:ext>
              </a:extLst>
            </p:cNvPr>
            <p:cNvSpPr txBox="1"/>
            <p:nvPr/>
          </p:nvSpPr>
          <p:spPr>
            <a:xfrm>
              <a:off x="1238862" y="2083630"/>
              <a:ext cx="8396749" cy="2540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app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use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req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Request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res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Response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next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NextFunction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console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log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`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${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req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method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}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${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req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url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}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`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next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(); </a:t>
              </a:r>
              <a:r>
                <a:rPr lang="en-US" b="0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continue</a:t>
              </a:r>
              <a:endPara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});</a:t>
              </a:r>
            </a:p>
            <a:p>
              <a:pPr>
                <a:lnSpc>
                  <a:spcPct val="150000"/>
                </a:lnSpc>
                <a:buNone/>
              </a:pPr>
              <a:b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endPara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8C5AB086-0B98-E83A-D986-334CE72A0592}"/>
                </a:ext>
              </a:extLst>
            </p:cNvPr>
            <p:cNvSpPr txBox="1">
              <a:spLocks/>
            </p:cNvSpPr>
            <p:nvPr/>
          </p:nvSpPr>
          <p:spPr>
            <a:xfrm>
              <a:off x="1248701" y="1238863"/>
              <a:ext cx="10333703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Example: Logging middleware: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1179926-BB28-66C5-7563-791F0084A1A1}"/>
              </a:ext>
            </a:extLst>
          </p:cNvPr>
          <p:cNvGrpSpPr/>
          <p:nvPr/>
        </p:nvGrpSpPr>
        <p:grpSpPr>
          <a:xfrm>
            <a:off x="997971" y="3898493"/>
            <a:ext cx="10343542" cy="1487635"/>
            <a:chOff x="1238862" y="1238863"/>
            <a:chExt cx="10343542" cy="148763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F3EE86F-67DE-3344-E157-5ADA1D0C3E2F}"/>
                </a:ext>
              </a:extLst>
            </p:cNvPr>
            <p:cNvSpPr txBox="1"/>
            <p:nvPr/>
          </p:nvSpPr>
          <p:spPr>
            <a:xfrm>
              <a:off x="1238862" y="2083630"/>
              <a:ext cx="8396749" cy="642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app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use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express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json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());</a:t>
              </a:r>
            </a:p>
            <a:p>
              <a:pPr>
                <a:lnSpc>
                  <a:spcPct val="150000"/>
                </a:lnSpc>
                <a:buNone/>
              </a:pPr>
              <a:endPara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CCB79A95-DCEF-08EA-F569-7823A8E5E2A4}"/>
                </a:ext>
              </a:extLst>
            </p:cNvPr>
            <p:cNvSpPr txBox="1">
              <a:spLocks/>
            </p:cNvSpPr>
            <p:nvPr/>
          </p:nvSpPr>
          <p:spPr>
            <a:xfrm>
              <a:off x="1248701" y="1238863"/>
              <a:ext cx="10333703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Example: Built-in middleware: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554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926C75-02C6-ECD2-6316-F2731D259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EF7A29A0-942E-7AE3-9EAC-BC5FF7BB9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331" y="639097"/>
            <a:ext cx="10667337" cy="933598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Routing defines how the app responds to client requests.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A33247-6F6D-89BC-B97D-FB77D5E7C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29163"/>
            <a:ext cx="10810291" cy="717420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Routing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2BF507-8466-218A-4581-BF111742CBF6}"/>
              </a:ext>
            </a:extLst>
          </p:cNvPr>
          <p:cNvSpPr txBox="1"/>
          <p:nvPr/>
        </p:nvSpPr>
        <p:spPr>
          <a:xfrm>
            <a:off x="953728" y="1206447"/>
            <a:ext cx="8396749" cy="2540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"/users"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Respnse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}]);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"/users"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Respnse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50000"/>
              </a:lnSpc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2A0CCC-6743-C18A-B799-9F9179D3F294}"/>
              </a:ext>
            </a:extLst>
          </p:cNvPr>
          <p:cNvGrpSpPr/>
          <p:nvPr/>
        </p:nvGrpSpPr>
        <p:grpSpPr>
          <a:xfrm>
            <a:off x="1012721" y="3814917"/>
            <a:ext cx="10343542" cy="2595461"/>
            <a:chOff x="1238862" y="1199535"/>
            <a:chExt cx="10343542" cy="259546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751F0E-500A-F632-491C-BED30CB2086F}"/>
                </a:ext>
              </a:extLst>
            </p:cNvPr>
            <p:cNvSpPr txBox="1"/>
            <p:nvPr/>
          </p:nvSpPr>
          <p:spPr>
            <a:xfrm>
              <a:off x="1238862" y="2083630"/>
              <a:ext cx="8396749" cy="1711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b="1" dirty="0">
                  <a:solidFill>
                    <a:schemeClr val="accent6"/>
                  </a:solidFill>
                </a:rPr>
                <a:t>GET</a:t>
              </a:r>
              <a:r>
                <a:rPr lang="en-US" dirty="0">
                  <a:solidFill>
                    <a:schemeClr val="bg1"/>
                  </a:solidFill>
                </a:rPr>
                <a:t> → Read data.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b="1" dirty="0">
                  <a:solidFill>
                    <a:schemeClr val="accent6"/>
                  </a:solidFill>
                </a:rPr>
                <a:t>POST</a:t>
              </a:r>
              <a:r>
                <a:rPr lang="en-US" dirty="0">
                  <a:solidFill>
                    <a:schemeClr val="bg1"/>
                  </a:solidFill>
                </a:rPr>
                <a:t> → Create data.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b="1" dirty="0">
                  <a:solidFill>
                    <a:schemeClr val="accent6"/>
                  </a:solidFill>
                </a:rPr>
                <a:t>PUT/PATCH</a:t>
              </a:r>
              <a:r>
                <a:rPr lang="en-US" dirty="0">
                  <a:solidFill>
                    <a:schemeClr val="bg1"/>
                  </a:solidFill>
                </a:rPr>
                <a:t> → Update data.</a:t>
              </a:r>
            </a:p>
            <a:p>
              <a:pPr marL="342900" indent="-342900">
                <a:lnSpc>
                  <a:spcPct val="150000"/>
                </a:lnSpc>
                <a:buFont typeface="+mj-lt"/>
                <a:buAutoNum type="arabicPeriod"/>
              </a:pPr>
              <a:r>
                <a:rPr lang="en-US" b="1" dirty="0">
                  <a:solidFill>
                    <a:schemeClr val="accent6"/>
                  </a:solidFill>
                </a:rPr>
                <a:t>DELETE</a:t>
              </a:r>
              <a:r>
                <a:rPr lang="en-US" dirty="0">
                  <a:solidFill>
                    <a:schemeClr val="bg1"/>
                  </a:solidFill>
                </a:rPr>
                <a:t> → Delete data.</a:t>
              </a:r>
            </a:p>
          </p:txBody>
        </p:sp>
        <p:sp>
          <p:nvSpPr>
            <p:cNvPr id="12" name="Title 1">
              <a:extLst>
                <a:ext uri="{FF2B5EF4-FFF2-40B4-BE49-F238E27FC236}">
                  <a16:creationId xmlns:a16="http://schemas.microsoft.com/office/drawing/2014/main" id="{47C0132A-8513-4505-75D8-191F304E72F7}"/>
                </a:ext>
              </a:extLst>
            </p:cNvPr>
            <p:cNvSpPr txBox="1">
              <a:spLocks/>
            </p:cNvSpPr>
            <p:nvPr/>
          </p:nvSpPr>
          <p:spPr>
            <a:xfrm>
              <a:off x="1248701" y="1199535"/>
              <a:ext cx="10333703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3200" b="1" dirty="0">
                  <a:solidFill>
                    <a:schemeClr val="accent6">
                      <a:lumMod val="75000"/>
                    </a:schemeClr>
                  </a:solidFill>
                </a:rPr>
                <a:t>HTTP Methods Supported: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0268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B1CD82-051C-879C-5C32-19E06EDF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03F0507-3D66-356D-159B-59BC3FCE2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-78323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Route &amp; Query Parameters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54D5D1-74E0-73AA-462E-00571FEA4387}"/>
              </a:ext>
            </a:extLst>
          </p:cNvPr>
          <p:cNvGrpSpPr/>
          <p:nvPr/>
        </p:nvGrpSpPr>
        <p:grpSpPr>
          <a:xfrm>
            <a:off x="1032385" y="1238862"/>
            <a:ext cx="10343542" cy="2139096"/>
            <a:chOff x="1238862" y="1238863"/>
            <a:chExt cx="10343542" cy="213909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D24824F-C650-9AD8-BAEF-216E17859700}"/>
                </a:ext>
              </a:extLst>
            </p:cNvPr>
            <p:cNvSpPr txBox="1"/>
            <p:nvPr/>
          </p:nvSpPr>
          <p:spPr>
            <a:xfrm>
              <a:off x="1238862" y="2083630"/>
              <a:ext cx="8396749" cy="1294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app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get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"/users/:id"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(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req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Request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res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Response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res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send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`User ID: 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${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req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params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}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`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});</a:t>
              </a:r>
            </a:p>
          </p:txBody>
        </p:sp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40BA3FC7-AE1E-5DDA-18A4-098037671515}"/>
                </a:ext>
              </a:extLst>
            </p:cNvPr>
            <p:cNvSpPr txBox="1">
              <a:spLocks/>
            </p:cNvSpPr>
            <p:nvPr/>
          </p:nvSpPr>
          <p:spPr>
            <a:xfrm>
              <a:off x="1248701" y="1238863"/>
              <a:ext cx="10333703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Route Parameters: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B9FAF30-EADB-BB2D-CA7B-653502559B0B}"/>
              </a:ext>
            </a:extLst>
          </p:cNvPr>
          <p:cNvGrpSpPr/>
          <p:nvPr/>
        </p:nvGrpSpPr>
        <p:grpSpPr>
          <a:xfrm>
            <a:off x="997971" y="3495368"/>
            <a:ext cx="10343542" cy="2139096"/>
            <a:chOff x="1238862" y="1238863"/>
            <a:chExt cx="10343542" cy="213909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2D7CB4-BBA6-D589-E5CC-626D0A1A5199}"/>
                </a:ext>
              </a:extLst>
            </p:cNvPr>
            <p:cNvSpPr txBox="1"/>
            <p:nvPr/>
          </p:nvSpPr>
          <p:spPr>
            <a:xfrm>
              <a:off x="1238862" y="2083630"/>
              <a:ext cx="8396749" cy="1294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app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get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"/search"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(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req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Request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res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Response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res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send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`Search for: 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${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req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query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term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}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`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});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46B409FE-EF47-4512-262E-C92263246B7C}"/>
                </a:ext>
              </a:extLst>
            </p:cNvPr>
            <p:cNvSpPr txBox="1">
              <a:spLocks/>
            </p:cNvSpPr>
            <p:nvPr/>
          </p:nvSpPr>
          <p:spPr>
            <a:xfrm>
              <a:off x="1248701" y="1238863"/>
              <a:ext cx="10333703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Query Parameters: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869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D96180-6D61-4813-418C-E057748A3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68AC23-C73D-FE7B-AC35-078FD06C4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147820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Error Handling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A70DBBA-48DF-3467-5D50-F23AF8ED9D14}"/>
              </a:ext>
            </a:extLst>
          </p:cNvPr>
          <p:cNvGrpSpPr/>
          <p:nvPr/>
        </p:nvGrpSpPr>
        <p:grpSpPr>
          <a:xfrm>
            <a:off x="1032385" y="1465005"/>
            <a:ext cx="10343542" cy="2554594"/>
            <a:chOff x="1238862" y="1238863"/>
            <a:chExt cx="10343542" cy="2554594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98E31C9-17ED-266D-61DA-7717959F1374}"/>
                </a:ext>
              </a:extLst>
            </p:cNvPr>
            <p:cNvSpPr txBox="1"/>
            <p:nvPr/>
          </p:nvSpPr>
          <p:spPr>
            <a:xfrm>
              <a:off x="1238862" y="2083630"/>
              <a:ext cx="8396749" cy="17098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app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use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((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err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any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req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res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next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console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error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err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stack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res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status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B5CEA8"/>
                  </a:solidFill>
                  <a:effectLst/>
                  <a:latin typeface="Consolas" panose="020B0609020204030204" pitchFamily="49" charset="0"/>
                </a:rPr>
                <a:t>500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json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({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message: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err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message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});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});</a:t>
              </a:r>
            </a:p>
          </p:txBody>
        </p:sp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AA6BD8D7-36CB-4621-648B-00621809887B}"/>
                </a:ext>
              </a:extLst>
            </p:cNvPr>
            <p:cNvSpPr txBox="1">
              <a:spLocks/>
            </p:cNvSpPr>
            <p:nvPr/>
          </p:nvSpPr>
          <p:spPr>
            <a:xfrm>
              <a:off x="1248701" y="1238863"/>
              <a:ext cx="10333703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</a:rPr>
                <a:t>Express error handler middleware (4 parameters)::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9216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C796E4-9A95-181C-96FE-79B658767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05E3E4F-F9B4-ECA7-AE03-BA4005AB6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147820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Express Router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1F2691-9BB8-AA4A-C7C7-961CD9F34700}"/>
              </a:ext>
            </a:extLst>
          </p:cNvPr>
          <p:cNvGrpSpPr/>
          <p:nvPr/>
        </p:nvGrpSpPr>
        <p:grpSpPr>
          <a:xfrm>
            <a:off x="1042224" y="1622321"/>
            <a:ext cx="10333703" cy="4858057"/>
            <a:chOff x="1248701" y="1238863"/>
            <a:chExt cx="10333703" cy="485805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743D67C-3A5D-1AC7-6CCC-C5BC7792B226}"/>
                </a:ext>
              </a:extLst>
            </p:cNvPr>
            <p:cNvSpPr txBox="1"/>
            <p:nvPr/>
          </p:nvSpPr>
          <p:spPr>
            <a:xfrm>
              <a:off x="1248701" y="1894103"/>
              <a:ext cx="8396749" cy="4202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import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{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Router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} </a:t>
              </a:r>
              <a:r>
                <a:rPr lang="en-US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from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"express"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;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const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userRouter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Router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();</a:t>
              </a:r>
            </a:p>
            <a:p>
              <a:pPr>
                <a:lnSpc>
                  <a:spcPct val="150000"/>
                </a:lnSpc>
                <a:buNone/>
              </a:pPr>
              <a:endPara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userRouter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get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"/"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(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req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Request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res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Response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{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res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send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"All users"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});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userRouter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get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"/:id"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(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req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Request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res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: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4EC9B0"/>
                  </a:solidFill>
                  <a:effectLst/>
                  <a:latin typeface="Consolas" panose="020B0609020204030204" pitchFamily="49" charset="0"/>
                </a:rPr>
                <a:t>Response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 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=&gt;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{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b="0" dirty="0">
                  <a:solidFill>
                    <a:srgbClr val="C586C0"/>
                  </a:solidFill>
                  <a:effectLst/>
                  <a:latin typeface="Consolas" panose="020B0609020204030204" pitchFamily="49" charset="0"/>
                </a:rPr>
                <a:t>return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res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send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`User 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${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req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params</a:t>
              </a:r>
              <a:r>
                <a:rPr lang="en-US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id</a:t>
              </a:r>
              <a:r>
                <a:rPr lang="en-US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}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`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),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});</a:t>
              </a:r>
            </a:p>
            <a:p>
              <a:pPr>
                <a:lnSpc>
                  <a:spcPct val="150000"/>
                </a:lnSpc>
                <a:buNone/>
              </a:pP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app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use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"/users"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b="0" dirty="0">
                  <a:solidFill>
                    <a:srgbClr val="4FC1FF"/>
                  </a:solidFill>
                  <a:effectLst/>
                  <a:latin typeface="Consolas" panose="020B0609020204030204" pitchFamily="49" charset="0"/>
                </a:rPr>
                <a:t>userRouter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);</a:t>
              </a:r>
            </a:p>
          </p:txBody>
        </p:sp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08A36129-2606-42F5-D113-31DD774EF8FC}"/>
                </a:ext>
              </a:extLst>
            </p:cNvPr>
            <p:cNvSpPr txBox="1">
              <a:spLocks/>
            </p:cNvSpPr>
            <p:nvPr/>
          </p:nvSpPr>
          <p:spPr>
            <a:xfrm>
              <a:off x="1248701" y="1238863"/>
              <a:ext cx="10333703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endParaRPr lang="en-US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77A15C18-AE6B-B7EE-27F4-3061B3F14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6291" y="993059"/>
            <a:ext cx="10667337" cy="933598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Why use Routers? </a:t>
            </a:r>
          </a:p>
          <a:p>
            <a:pPr algn="l"/>
            <a:r>
              <a:rPr lang="en-US" dirty="0">
                <a:solidFill>
                  <a:schemeClr val="bg1"/>
                </a:solidFill>
              </a:rPr>
              <a:t>To organize routes into separate modules.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042799-DD10-A5EA-3414-6A9B46F23CBC}"/>
              </a:ext>
            </a:extLst>
          </p:cNvPr>
          <p:cNvGrpSpPr/>
          <p:nvPr/>
        </p:nvGrpSpPr>
        <p:grpSpPr>
          <a:xfrm>
            <a:off x="9227584" y="4628667"/>
            <a:ext cx="3898479" cy="1764464"/>
            <a:chOff x="1238862" y="1199535"/>
            <a:chExt cx="10343542" cy="176446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D69739F-DB7F-400C-0AA7-8BBFED45BB7C}"/>
                </a:ext>
              </a:extLst>
            </p:cNvPr>
            <p:cNvSpPr txBox="1"/>
            <p:nvPr/>
          </p:nvSpPr>
          <p:spPr>
            <a:xfrm>
              <a:off x="1238862" y="2083630"/>
              <a:ext cx="8396748" cy="8803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/users → all users.</a:t>
              </a:r>
            </a:p>
            <a:p>
              <a:pPr marL="342900" indent="-3429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/users/:id → user details.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F58DDD1B-3347-9E19-C1AA-B58B08E2346B}"/>
                </a:ext>
              </a:extLst>
            </p:cNvPr>
            <p:cNvSpPr txBox="1">
              <a:spLocks/>
            </p:cNvSpPr>
            <p:nvPr/>
          </p:nvSpPr>
          <p:spPr>
            <a:xfrm>
              <a:off x="1248700" y="1199535"/>
              <a:ext cx="10333704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</a:rPr>
                <a:t>Result: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05D0236-86CB-3F10-9533-57448D93FDB3}"/>
              </a:ext>
            </a:extLst>
          </p:cNvPr>
          <p:cNvSpPr txBox="1"/>
          <p:nvPr/>
        </p:nvSpPr>
        <p:spPr>
          <a:xfrm>
            <a:off x="8785128" y="2389594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</p:spTree>
    <p:extLst>
      <p:ext uri="{BB962C8B-B14F-4D97-AF65-F5344CB8AC3E}">
        <p14:creationId xmlns:p14="http://schemas.microsoft.com/office/powerpoint/2010/main" val="117350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40AC17-E2DB-7631-0235-09B5726B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4122E44-2843-A740-7C59-1735220FA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321" y="147820"/>
            <a:ext cx="10810291" cy="9335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Serving Static Files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F56938-0AA6-9C98-8A83-F295ECCA5AFF}"/>
              </a:ext>
            </a:extLst>
          </p:cNvPr>
          <p:cNvGrpSpPr/>
          <p:nvPr/>
        </p:nvGrpSpPr>
        <p:grpSpPr>
          <a:xfrm>
            <a:off x="1297864" y="1622321"/>
            <a:ext cx="10333703" cy="941600"/>
            <a:chOff x="1248701" y="1238863"/>
            <a:chExt cx="10333703" cy="94160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0123F9B-1EC5-9C03-44F6-90509A42E467}"/>
                </a:ext>
              </a:extLst>
            </p:cNvPr>
            <p:cNvSpPr txBox="1"/>
            <p:nvPr/>
          </p:nvSpPr>
          <p:spPr>
            <a:xfrm>
              <a:off x="1248701" y="1894103"/>
              <a:ext cx="8396749" cy="2863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app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use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express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static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"public"</a:t>
              </a:r>
              <a:r>
                <a:rPr lang="en-US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));</a:t>
              </a:r>
            </a:p>
          </p:txBody>
        </p:sp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74496455-E2C0-681B-EB7F-5801805E1D46}"/>
                </a:ext>
              </a:extLst>
            </p:cNvPr>
            <p:cNvSpPr txBox="1">
              <a:spLocks/>
            </p:cNvSpPr>
            <p:nvPr/>
          </p:nvSpPr>
          <p:spPr>
            <a:xfrm>
              <a:off x="1248701" y="1238863"/>
              <a:ext cx="10333703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endParaRPr lang="en-US" sz="24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E17EF560-F9B4-3118-6AF1-4A9AA3C1B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3776" y="1366685"/>
            <a:ext cx="10667337" cy="933598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chemeClr val="bg1"/>
                </a:solidFill>
              </a:rPr>
              <a:t>Serve HTML, CSS, images, etc.: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1D81E9-A31B-9C37-ADA4-2E282D1350D3}"/>
              </a:ext>
            </a:extLst>
          </p:cNvPr>
          <p:cNvSpPr txBox="1"/>
          <p:nvPr/>
        </p:nvSpPr>
        <p:spPr>
          <a:xfrm>
            <a:off x="1253591" y="5948877"/>
            <a:ext cx="3244645" cy="46166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See </a:t>
            </a:r>
            <a:r>
              <a:rPr lang="en-US" sz="2400" dirty="0">
                <a:solidFill>
                  <a:schemeClr val="accent6"/>
                </a:solidFill>
              </a:rPr>
              <a:t>Labs</a:t>
            </a:r>
            <a:r>
              <a:rPr lang="en-US" sz="2400" dirty="0">
                <a:solidFill>
                  <a:schemeClr val="bg1"/>
                </a:solidFill>
              </a:rPr>
              <a:t> for code demo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73E100-D8E2-1A3B-CB7D-236A4AA464B5}"/>
              </a:ext>
            </a:extLst>
          </p:cNvPr>
          <p:cNvGrpSpPr/>
          <p:nvPr/>
        </p:nvGrpSpPr>
        <p:grpSpPr>
          <a:xfrm>
            <a:off x="1342119" y="2955523"/>
            <a:ext cx="8396748" cy="1348966"/>
            <a:chOff x="1238862" y="1199535"/>
            <a:chExt cx="10343542" cy="134896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621577-47FA-2523-F748-E07FDFB71AA7}"/>
                </a:ext>
              </a:extLst>
            </p:cNvPr>
            <p:cNvSpPr txBox="1"/>
            <p:nvPr/>
          </p:nvSpPr>
          <p:spPr>
            <a:xfrm>
              <a:off x="1238862" y="2083630"/>
              <a:ext cx="8396749" cy="46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bg1"/>
                  </a:solidFill>
                </a:rPr>
                <a:t>http://localhost:3000/logo.png → serves /public/logo.png</a:t>
              </a: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72CFD642-F2B1-FE45-15C1-FAEB258D2623}"/>
                </a:ext>
              </a:extLst>
            </p:cNvPr>
            <p:cNvSpPr txBox="1">
              <a:spLocks/>
            </p:cNvSpPr>
            <p:nvPr/>
          </p:nvSpPr>
          <p:spPr>
            <a:xfrm>
              <a:off x="1248700" y="1199535"/>
              <a:ext cx="10333704" cy="8567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</a:rPr>
                <a:t>Result: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3733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5843</TotalTime>
  <Words>727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What is ExpressJS</vt:lpstr>
      <vt:lpstr>Why Use ExpressJS</vt:lpstr>
      <vt:lpstr>ExpressJS + TypeScript Setup</vt:lpstr>
      <vt:lpstr>Creating a Basic Server</vt:lpstr>
      <vt:lpstr>Middleware</vt:lpstr>
      <vt:lpstr>Routing</vt:lpstr>
      <vt:lpstr>Route &amp; Query Parameters</vt:lpstr>
      <vt:lpstr>Error Handling</vt:lpstr>
      <vt:lpstr>Express Router</vt:lpstr>
      <vt:lpstr>Serving Static 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 OKEKE</dc:creator>
  <cp:lastModifiedBy>CHRISTIAN  OKEKE</cp:lastModifiedBy>
  <cp:revision>81</cp:revision>
  <dcterms:created xsi:type="dcterms:W3CDTF">2025-09-24T09:42:11Z</dcterms:created>
  <dcterms:modified xsi:type="dcterms:W3CDTF">2025-11-09T17:13:12Z</dcterms:modified>
</cp:coreProperties>
</file>