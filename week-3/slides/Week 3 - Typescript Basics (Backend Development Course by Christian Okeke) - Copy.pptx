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5" r:id="rId3"/>
    <p:sldId id="297" r:id="rId4"/>
    <p:sldId id="296" r:id="rId5"/>
    <p:sldId id="298" r:id="rId6"/>
    <p:sldId id="299" r:id="rId7"/>
    <p:sldId id="300" r:id="rId8"/>
    <p:sldId id="302" r:id="rId9"/>
    <p:sldId id="303" r:id="rId10"/>
    <p:sldId id="2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91919"/>
    <a:srgbClr val="222222"/>
    <a:srgbClr val="63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C941-3A21-2AB7-6604-968635A9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82507-73C1-FA62-F919-6A44D2C1C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F415A-D7FB-7F71-B080-11843873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FF6A-D146-D3CD-E6A3-810E93E2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2E9C-15B8-2748-FB9B-EA597A6E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0ED9-E2B2-4A1D-6FE5-4A8AB943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8EB6-3B58-8C73-97F3-0D412C67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BC3C-EC3A-90E1-09BC-6622AB54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2C25-C228-390D-8EBE-4D69F70E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48A92-BAEC-0CE2-B6A5-3ADF7C3D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0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8823-3386-EC0F-EB27-01F21838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286ED-3F5D-19BA-5D18-3F2F4B3D1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BF11B-5E35-5DD9-45F4-BAB4DDBA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A7E58-C200-CE9C-A8D6-871FAB1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7EFC-1E73-2557-B37A-46BD5E57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5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1B7-3820-65E4-EF85-48D68FB1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E91E-D454-F823-0D68-D0DBF1360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44E22-FDFE-75B7-5B32-BFD6BB001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BFCF-CAC3-6300-BB6A-C60F0859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CA505-3EB0-ACEA-800B-E68BE281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4BD58-E3EE-861C-B97B-0D3C1EE9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6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3891-5A80-0C9F-5612-2CD00A8D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AA6E1-788D-1814-E255-54FBC788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92E2E-B93F-031B-904D-DF82AD451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49598-A29F-38AE-A544-8E3457910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3BF71-0A2B-A2B5-4A34-24B3E0A7E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B9A63-03B9-4C20-47BA-5BB1B3BC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5CF4C-79C2-1401-E311-8BEE8922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A3C9-8BCA-2BB9-84AC-A0698F4A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2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9009-E316-1421-D9E0-4AB70A7D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BA260-2D4A-5469-E2AA-62966E4C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2BD63-70F0-C47D-78E5-7E8389ED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8DD65-A229-EBB8-D71A-D85C1656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7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C8785-5752-B092-9D8A-8F9A8192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53F8D-970F-B1F0-BF22-9E8DF5B8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F23FA-13CA-5BD3-11E9-BF73EE1E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F084-2B37-8973-B804-4B538F9F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99AAD-2225-AD6C-0D77-E9EE054C2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F0CB0-C70D-BBF6-A12F-EBC6639F1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2BD70-5A93-A34C-DD43-C19F06F6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24D6B-D08D-C6CB-8E30-F7A3C3CA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23529-D4D4-15CA-E464-30558F6B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9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5B7A-D876-C386-FAF1-B681E827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DB7B1-F29B-5DED-2D67-C185DA3E4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BF9CD-C521-041B-6D41-84C52FFE5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507B-0B1B-35A1-B0BF-69240419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5137A-3E56-6BB2-0905-A193FE87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BE56D-8C92-37CA-6649-19D8D272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C759-2403-B7CC-1776-5ED763FE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3AE-637D-5D1C-D763-54DF7B51D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3E30-5252-71C0-DA70-7046B7DB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4C28-E78C-4552-C27E-212D7DB6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F470-508A-5BF8-F525-5254414A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9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5609C-8E10-FCA6-BACA-EA23E4869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B88BD-2A23-E8F6-EF55-BEB92C86B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C034-E4C4-D825-56D0-116BA037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7A7DE-E7FB-4842-76A0-2CB6148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3C9D-69E9-9334-1A6F-DB4E2DBF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7836B-7E4D-D881-EBF9-DCB64919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ABA5A-3F3B-0E97-F867-16BAD762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C41CB-5983-6627-8CBD-30E162642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23B7A-5934-4F5A-8C7D-D0F7EE1498F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B34DB-B5CB-3BD1-05FE-E28574EC9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7E62D-4F75-4E5C-B36B-717B83AAC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6DF2B-1972-4645-95F8-B23E0E7F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AD935304-51E5-B423-1248-3858F0F53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825708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TypeScript </a:t>
            </a:r>
            <a:r>
              <a:rPr lang="en-US" dirty="0">
                <a:solidFill>
                  <a:schemeClr val="bg1"/>
                </a:solidFill>
              </a:rPr>
              <a:t>is a superset of JavaScript that is compiled to JS, and has benefits like type safety. It helps catch errors during development.</a:t>
            </a:r>
          </a:p>
          <a:p>
            <a:pPr algn="just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A7F081-55AE-D3D3-1C8C-2107735A4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27487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TypeScript?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F9DAD-891A-FB28-9BDC-08E5C0AD0F15}"/>
              </a:ext>
            </a:extLst>
          </p:cNvPr>
          <p:cNvSpPr txBox="1"/>
          <p:nvPr/>
        </p:nvSpPr>
        <p:spPr>
          <a:xfrm>
            <a:off x="884899" y="2605548"/>
            <a:ext cx="64499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Why use TypeScript?</a:t>
            </a:r>
            <a:endParaRPr lang="en-US" sz="2400" dirty="0">
              <a:solidFill>
                <a:schemeClr val="accent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Detects bugs at compile-time, not runtime.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Adds IDE auto-completion &amp; better readability.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Supports OOP (Classes, Interfaces, etc.).</a:t>
            </a:r>
          </a:p>
        </p:txBody>
      </p:sp>
    </p:spTree>
    <p:extLst>
      <p:ext uri="{BB962C8B-B14F-4D97-AF65-F5344CB8AC3E}">
        <p14:creationId xmlns:p14="http://schemas.microsoft.com/office/powerpoint/2010/main" val="17819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CA22B-A43E-26AF-D665-1B57275D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3970F882-090E-A97F-8C70-04875E8C3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825708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Just like in JavaScript, Typescript has primitive data types and non-primitive data types.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8F3DF3-D1E4-A033-4870-33F5528AB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27487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Basic Types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147128A-0E63-EC94-2017-5C62C5A1D329}"/>
              </a:ext>
            </a:extLst>
          </p:cNvPr>
          <p:cNvGrpSpPr/>
          <p:nvPr/>
        </p:nvGrpSpPr>
        <p:grpSpPr>
          <a:xfrm>
            <a:off x="825906" y="1769807"/>
            <a:ext cx="10962973" cy="7478970"/>
            <a:chOff x="825906" y="1769807"/>
            <a:chExt cx="10962973" cy="74789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E2E26D-0849-C6EF-1EC0-66D9E1D82D0B}"/>
                </a:ext>
              </a:extLst>
            </p:cNvPr>
            <p:cNvGrpSpPr/>
            <p:nvPr/>
          </p:nvGrpSpPr>
          <p:grpSpPr>
            <a:xfrm>
              <a:off x="825906" y="1769807"/>
              <a:ext cx="10962973" cy="7478970"/>
              <a:chOff x="825906" y="1995950"/>
              <a:chExt cx="10962973" cy="7478970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ACDED3-1EBF-6187-EE5B-7F853B8E6450}"/>
                  </a:ext>
                </a:extLst>
              </p:cNvPr>
              <p:cNvSpPr txBox="1"/>
              <p:nvPr/>
            </p:nvSpPr>
            <p:spPr>
              <a:xfrm>
                <a:off x="825906" y="1995950"/>
                <a:ext cx="10962973" cy="7478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/>
                    </a:solidFill>
                  </a:rPr>
                  <a:t>Primitive Types:</a:t>
                </a:r>
                <a:endParaRPr lang="en-US" sz="2400" dirty="0">
                  <a:solidFill>
                    <a:schemeClr val="accent6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number</a:t>
                </a:r>
                <a:r>
                  <a:rPr lang="en-US" sz="2400" dirty="0">
                    <a:solidFill>
                      <a:schemeClr val="bg1"/>
                    </a:solidFill>
                  </a:rPr>
                  <a:t>:  represents both integer and floating-point numbers.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string</a:t>
                </a:r>
                <a:r>
                  <a:rPr lang="en-US" sz="2400" dirty="0">
                    <a:solidFill>
                      <a:schemeClr val="bg1"/>
                    </a:solidFill>
                  </a:rPr>
                  <a:t>: represents textual data, enclosed in single quotes, double quotes, or backticks (for template literals).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boolean</a:t>
                </a:r>
                <a:r>
                  <a:rPr lang="en-US" sz="2400" dirty="0">
                    <a:solidFill>
                      <a:schemeClr val="bg1"/>
                    </a:solidFill>
                  </a:rPr>
                  <a:t>: represents a logical value, either true or false.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null</a:t>
                </a:r>
                <a:r>
                  <a:rPr lang="en-US" sz="2400" dirty="0">
                    <a:solidFill>
                      <a:schemeClr val="bg1"/>
                    </a:solidFill>
                  </a:rPr>
                  <a:t>: represents the intentional absence of any object value.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undefined</a:t>
                </a:r>
                <a:r>
                  <a:rPr lang="en-US" sz="2400" dirty="0">
                    <a:solidFill>
                      <a:schemeClr val="bg1"/>
                    </a:solidFill>
                  </a:rPr>
                  <a:t>: represents a variable that has been declared but not yet assigned a value, or a property that doesn't exist.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symbol</a:t>
                </a:r>
                <a:r>
                  <a:rPr lang="en-US" sz="2400" dirty="0">
                    <a:solidFill>
                      <a:schemeClr val="bg1"/>
                    </a:solidFill>
                  </a:rPr>
                  <a:t>: represents a unique, immutable value, often used as object keys.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bigint</a:t>
                </a:r>
                <a:r>
                  <a:rPr lang="en-US" sz="2400" dirty="0">
                    <a:solidFill>
                      <a:schemeClr val="bg1"/>
                    </a:solidFill>
                  </a:rPr>
                  <a:t> (ES2020+): represents integers with arbitrary precision, larger than what number can safely represent.</a:t>
                </a: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9540F06-EC55-5FED-D079-EC10969A06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90699" y="2935425"/>
                <a:ext cx="3405301" cy="103681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D84252D-A7E5-5297-BFB2-BD9D5A871B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39165" y="4983758"/>
                <a:ext cx="3548563" cy="1036810"/>
              </a:xfrm>
              <a:prstGeom prst="rect">
                <a:avLst/>
              </a:prstGeom>
            </p:spPr>
          </p:pic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CA58ED6-8930-80E4-1126-463C6F783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12096" y="6146615"/>
              <a:ext cx="3338664" cy="565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612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6AE6E-F1A8-F902-BECE-4E2477D2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C166587-8DF5-1AD6-27AC-ED7A8817F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265137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Basic Types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E65238-40EC-3EB4-7869-1E91F887AFCA}"/>
              </a:ext>
            </a:extLst>
          </p:cNvPr>
          <p:cNvGrpSpPr/>
          <p:nvPr/>
        </p:nvGrpSpPr>
        <p:grpSpPr>
          <a:xfrm>
            <a:off x="825906" y="845572"/>
            <a:ext cx="10962973" cy="5262979"/>
            <a:chOff x="825906" y="2113936"/>
            <a:chExt cx="10962973" cy="526297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0577194-7DA5-0EFC-C378-2F03685E9C47}"/>
                </a:ext>
              </a:extLst>
            </p:cNvPr>
            <p:cNvSpPr txBox="1"/>
            <p:nvPr/>
          </p:nvSpPr>
          <p:spPr>
            <a:xfrm>
              <a:off x="825906" y="2113936"/>
              <a:ext cx="10962973" cy="5262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6"/>
                  </a:solidFill>
                </a:rPr>
                <a:t>Primitive Types:</a:t>
              </a:r>
              <a:endParaRPr lang="en-US" sz="2400" dirty="0">
                <a:solidFill>
                  <a:schemeClr val="accent6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6"/>
                  </a:solidFill>
                </a:rPr>
                <a:t>null</a:t>
              </a:r>
              <a:r>
                <a:rPr lang="en-US" sz="2400" dirty="0">
                  <a:solidFill>
                    <a:schemeClr val="bg1"/>
                  </a:solidFill>
                </a:rPr>
                <a:t>: represents the intentional absence of any object value.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6"/>
                  </a:solidFill>
                </a:rPr>
                <a:t>undefined</a:t>
              </a:r>
              <a:r>
                <a:rPr lang="en-US" sz="2400" dirty="0">
                  <a:solidFill>
                    <a:schemeClr val="bg1"/>
                  </a:solidFill>
                </a:rPr>
                <a:t>: represents a variable that has been declared but not yet assigned a value, or a property that doesn't exist.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6"/>
                  </a:solidFill>
                </a:rPr>
                <a:t>symbol</a:t>
              </a:r>
              <a:r>
                <a:rPr lang="en-US" sz="2400" dirty="0">
                  <a:solidFill>
                    <a:schemeClr val="bg1"/>
                  </a:solidFill>
                </a:rPr>
                <a:t>: represents a unique, immutable value, often used as object keys.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6"/>
                  </a:solidFill>
                </a:rPr>
                <a:t>bigint</a:t>
              </a:r>
              <a:r>
                <a:rPr lang="en-US" sz="2400" dirty="0">
                  <a:solidFill>
                    <a:schemeClr val="bg1"/>
                  </a:solidFill>
                </a:rPr>
                <a:t> (ES2020+): represents integers with arbitrary precision, larger than what number can safely represent.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FA5CAC7-6CCD-F84F-8554-71DF1067A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1575" y="2896054"/>
              <a:ext cx="3285105" cy="60354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AAB6A14-842B-96FD-45FE-D7FBE8060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0021" y="4411744"/>
              <a:ext cx="3314256" cy="58306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908D905-6D90-92DE-116C-134BD6328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0021" y="5535696"/>
              <a:ext cx="3314257" cy="718869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269F67F-78F3-820F-DC19-E6E2004223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575" y="5972868"/>
            <a:ext cx="3683189" cy="62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1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C8211-BCC5-5E14-F386-32FCEC14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75FD4A2-81E3-90F3-FE1B-6A2610F7A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27487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Basic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B71B9F-4E0D-145A-A331-C6C9D92A6F89}"/>
              </a:ext>
            </a:extLst>
          </p:cNvPr>
          <p:cNvSpPr txBox="1"/>
          <p:nvPr/>
        </p:nvSpPr>
        <p:spPr>
          <a:xfrm>
            <a:off x="825906" y="766919"/>
            <a:ext cx="109629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Object Types: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Array</a:t>
            </a:r>
            <a:r>
              <a:rPr lang="en-US" sz="2400" dirty="0">
                <a:solidFill>
                  <a:schemeClr val="bg1"/>
                </a:solidFill>
              </a:rPr>
              <a:t>: represents a collection of elements of the same type.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Tuple</a:t>
            </a:r>
            <a:r>
              <a:rPr lang="en-US" sz="2400" dirty="0">
                <a:solidFill>
                  <a:schemeClr val="bg1"/>
                </a:solidFill>
              </a:rPr>
              <a:t>: represents an array with a fixed number of elements whose types are known at specific positions.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enum</a:t>
            </a:r>
            <a:r>
              <a:rPr lang="en-US" sz="2400" dirty="0">
                <a:solidFill>
                  <a:schemeClr val="bg1"/>
                </a:solidFill>
              </a:rPr>
              <a:t>: provides a way to define a set of named constant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any</a:t>
            </a:r>
            <a:r>
              <a:rPr lang="en-US" sz="2400" dirty="0">
                <a:solidFill>
                  <a:schemeClr val="bg1"/>
                </a:solidFill>
              </a:rPr>
              <a:t>: represents any type, effectively opting out of type-checking for a variable. Use with caution.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1ED129-C70A-9B73-DA2A-F5B6DDC6A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479" y="6068491"/>
            <a:ext cx="3074784" cy="6614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040B04-C8A4-4685-ADAB-EECB0E88A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936" y="1637956"/>
            <a:ext cx="3737787" cy="6672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90AB42-80EF-2C3C-AF68-81DEF46A54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264" y="4525677"/>
            <a:ext cx="2968121" cy="66678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CD888B-E96C-5D5B-252E-54CA6005B8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936" y="3474075"/>
            <a:ext cx="3988640" cy="530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8569DB-C459-39FE-CB0C-2CD19B193921}"/>
              </a:ext>
            </a:extLst>
          </p:cNvPr>
          <p:cNvSpPr txBox="1"/>
          <p:nvPr/>
        </p:nvSpPr>
        <p:spPr>
          <a:xfrm>
            <a:off x="8691735" y="624348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59178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AEE90-FF9D-8379-55FB-8529D40F6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E75B4F-CAE6-12A7-08D0-59CE43A93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314301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Basic Types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119DBE-57AB-5580-39C7-B25564D6A855}"/>
              </a:ext>
            </a:extLst>
          </p:cNvPr>
          <p:cNvGrpSpPr/>
          <p:nvPr/>
        </p:nvGrpSpPr>
        <p:grpSpPr>
          <a:xfrm>
            <a:off x="825906" y="442451"/>
            <a:ext cx="10962973" cy="6370975"/>
            <a:chOff x="825906" y="442451"/>
            <a:chExt cx="10962973" cy="63709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F8A0FE-48C8-0CBB-C52B-E39C3600BF65}"/>
                </a:ext>
              </a:extLst>
            </p:cNvPr>
            <p:cNvGrpSpPr/>
            <p:nvPr/>
          </p:nvGrpSpPr>
          <p:grpSpPr>
            <a:xfrm>
              <a:off x="825906" y="442451"/>
              <a:ext cx="10962973" cy="6370975"/>
              <a:chOff x="825906" y="442451"/>
              <a:chExt cx="10962973" cy="6370975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66E3D1-4CAC-DF0E-913E-EB212E5EA687}"/>
                  </a:ext>
                </a:extLst>
              </p:cNvPr>
              <p:cNvSpPr txBox="1"/>
              <p:nvPr/>
            </p:nvSpPr>
            <p:spPr>
              <a:xfrm>
                <a:off x="825906" y="442451"/>
                <a:ext cx="10962973" cy="6370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/>
                    </a:solidFill>
                  </a:rPr>
                  <a:t>Object Types: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void</a:t>
                </a:r>
                <a:r>
                  <a:rPr lang="en-US" sz="2400" dirty="0">
                    <a:solidFill>
                      <a:schemeClr val="bg1"/>
                    </a:solidFill>
                  </a:rPr>
                  <a:t>: represents the absence of any type, typically used as the return type for functions that do not return a value.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never</a:t>
                </a:r>
                <a:r>
                  <a:rPr lang="en-US" sz="2400" dirty="0">
                    <a:solidFill>
                      <a:schemeClr val="bg1"/>
                    </a:solidFill>
                  </a:rPr>
                  <a:t>: represents the type of values that never occur, often used as the return type for functions that always throw an error or never return.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unknown</a:t>
                </a:r>
                <a:r>
                  <a:rPr lang="en-US" sz="2400" dirty="0">
                    <a:solidFill>
                      <a:schemeClr val="bg1"/>
                    </a:solidFill>
                  </a:rPr>
                  <a:t>: similar to any, but safer. You cannot perform operations on an unknown type without first narrowing it to a more specific type.</a:t>
                </a:r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Object</a:t>
                </a:r>
                <a:r>
                  <a:rPr lang="en-US" sz="2400" dirty="0">
                    <a:solidFill>
                      <a:schemeClr val="bg1"/>
                    </a:solidFill>
                  </a:rPr>
                  <a:t>: represents any non-primitive type. While available, using more specific types like interfaces or classes is generally preferred.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E707239-96DC-9FC7-1F06-AB92E67FE2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39749" y="3463326"/>
                <a:ext cx="3245017" cy="723937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B3F6375C-FF8B-7686-D450-F49619A30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167" y="4840239"/>
                <a:ext cx="3122681" cy="918435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F68D5246-2735-EA1D-E33C-89684B3546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3927" y="1647272"/>
                <a:ext cx="2978303" cy="825542"/>
              </a:xfrm>
              <a:prstGeom prst="rect">
                <a:avLst/>
              </a:prstGeom>
            </p:spPr>
          </p:pic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937B283-A377-BEBF-FE9D-79B90444A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1751" y="6343467"/>
              <a:ext cx="3400392" cy="456533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A697298-9904-DC4D-DC7F-2EBC06155669}"/>
              </a:ext>
            </a:extLst>
          </p:cNvPr>
          <p:cNvSpPr txBox="1"/>
          <p:nvPr/>
        </p:nvSpPr>
        <p:spPr>
          <a:xfrm>
            <a:off x="8878549" y="4994786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147352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4FCA4-9573-9C27-928E-C63289F5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683A0D6-75BF-D60C-5B42-76AAFAA6B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314301"/>
            <a:ext cx="10810291" cy="9335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Type Aliases, Union Types, Intersection Types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1BF98E-7998-ADB2-E4BC-D2F7987C3E58}"/>
              </a:ext>
            </a:extLst>
          </p:cNvPr>
          <p:cNvGrpSpPr/>
          <p:nvPr/>
        </p:nvGrpSpPr>
        <p:grpSpPr>
          <a:xfrm>
            <a:off x="825906" y="658760"/>
            <a:ext cx="10962973" cy="6740307"/>
            <a:chOff x="825906" y="442451"/>
            <a:chExt cx="10962973" cy="674030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4EFA7-ACD7-BE79-AD06-368836FA3813}"/>
                </a:ext>
              </a:extLst>
            </p:cNvPr>
            <p:cNvSpPr txBox="1"/>
            <p:nvPr/>
          </p:nvSpPr>
          <p:spPr>
            <a:xfrm>
              <a:off x="825906" y="442451"/>
              <a:ext cx="10962973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6"/>
                  </a:solidFill>
                </a:rPr>
                <a:t>Union types</a:t>
              </a:r>
              <a:r>
                <a:rPr lang="en-US" sz="2400" dirty="0">
                  <a:solidFill>
                    <a:schemeClr val="bg1"/>
                  </a:solidFill>
                </a:rPr>
                <a:t>: a union type allows a value to be one of several types. Use | to combine types.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6"/>
                  </a:solidFill>
                </a:rPr>
                <a:t>Intersection types</a:t>
              </a:r>
              <a:r>
                <a:rPr lang="en-US" sz="2400" dirty="0">
                  <a:solidFill>
                    <a:schemeClr val="bg1"/>
                  </a:solidFill>
                </a:rPr>
                <a:t>: an intersection type combines multiple types into one, requiring the value to satisfy all constituent types. Use &amp; to merge types.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6"/>
                  </a:solidFill>
                </a:rPr>
                <a:t>Type aliases</a:t>
              </a:r>
              <a:r>
                <a:rPr lang="en-US" sz="2400" dirty="0">
                  <a:solidFill>
                    <a:schemeClr val="bg1"/>
                  </a:solidFill>
                </a:rPr>
                <a:t>: type aliases allow you to create custom names for existing types. They're defined using the type keyword.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32F9DE-857F-2347-265F-79732B13C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4201" y="3579563"/>
              <a:ext cx="4212172" cy="92905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4240794-359F-56CD-E051-D14EEACF8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4201" y="1264645"/>
              <a:ext cx="2865325" cy="89594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A34AF1F-EEA0-7EA6-476E-699B16831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4201" y="5662264"/>
              <a:ext cx="2865325" cy="999094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FC8D975-61D8-F11A-7B1F-9AFC6729E11B}"/>
              </a:ext>
            </a:extLst>
          </p:cNvPr>
          <p:cNvSpPr txBox="1"/>
          <p:nvPr/>
        </p:nvSpPr>
        <p:spPr>
          <a:xfrm>
            <a:off x="8691735" y="624348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75524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43214-247D-519C-4733-313A4BC8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373043E-CFF7-386A-9381-3D25CE2A6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314301"/>
            <a:ext cx="10810291" cy="9335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Functions Typing and Interfaces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F6B28A-2AA9-564E-858E-B6C989778022}"/>
              </a:ext>
            </a:extLst>
          </p:cNvPr>
          <p:cNvSpPr txBox="1"/>
          <p:nvPr/>
        </p:nvSpPr>
        <p:spPr>
          <a:xfrm>
            <a:off x="825906" y="658760"/>
            <a:ext cx="1096297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Function typing</a:t>
            </a:r>
            <a:r>
              <a:rPr lang="en-US" sz="2400" dirty="0">
                <a:solidFill>
                  <a:schemeClr val="bg1"/>
                </a:solidFill>
              </a:rPr>
              <a:t>: you can define types for parameters and return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Interfaces</a:t>
            </a:r>
            <a:r>
              <a:rPr lang="en-US" sz="2400" dirty="0">
                <a:solidFill>
                  <a:schemeClr val="bg1"/>
                </a:solidFill>
              </a:rPr>
              <a:t>: interfaces define the structure (shape) of objects.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A0C00-A6DB-6750-9ACD-B561DBF4F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87" y="2147875"/>
            <a:ext cx="4209238" cy="10480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3C147E-6A70-C5D7-E6D4-D53E73B29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87" y="4500222"/>
            <a:ext cx="3396579" cy="14089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B9A016-8205-CEC7-A5E0-82EAE7D46EB0}"/>
              </a:ext>
            </a:extLst>
          </p:cNvPr>
          <p:cNvSpPr txBox="1"/>
          <p:nvPr/>
        </p:nvSpPr>
        <p:spPr>
          <a:xfrm>
            <a:off x="8691735" y="624348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84620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43B3F-AE3D-04F5-792D-AA728A40E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CA2059BD-68B0-61A4-706E-C0CABB6FC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825708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TypeScript enhances JavaScript classes with type annotations and access modifiers.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7B6C2E-D477-9D3C-DB64-B14A3FA88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27487"/>
            <a:ext cx="10810291" cy="9335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Classes and OOP Concepts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B551B-7714-569A-06ED-2078490C6C55}"/>
              </a:ext>
            </a:extLst>
          </p:cNvPr>
          <p:cNvSpPr txBox="1"/>
          <p:nvPr/>
        </p:nvSpPr>
        <p:spPr>
          <a:xfrm>
            <a:off x="884899" y="1710812"/>
            <a:ext cx="93603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There are three main visibility modifiers in TypeScript: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public</a:t>
            </a:r>
            <a:r>
              <a:rPr lang="en-US" sz="2400" dirty="0">
                <a:solidFill>
                  <a:schemeClr val="bg1"/>
                </a:solidFill>
              </a:rPr>
              <a:t>: (default) allows access to the class member from anywhere.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private</a:t>
            </a:r>
            <a:r>
              <a:rPr lang="en-US" sz="2400" dirty="0">
                <a:solidFill>
                  <a:schemeClr val="bg1"/>
                </a:solidFill>
              </a:rPr>
              <a:t>: only allows access to the class member from within the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protected</a:t>
            </a:r>
            <a:r>
              <a:rPr lang="en-US" sz="2400" dirty="0">
                <a:solidFill>
                  <a:schemeClr val="bg1"/>
                </a:solidFill>
              </a:rPr>
              <a:t>: allows access to the class member from itself and any classes that inherit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Keywords that support OOP concepts: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Extend: Classes can extend each other through the </a:t>
            </a:r>
            <a:r>
              <a:rPr lang="en-US" sz="2400" dirty="0">
                <a:solidFill>
                  <a:schemeClr val="accent6"/>
                </a:solidFill>
              </a:rPr>
              <a:t>extends</a:t>
            </a:r>
            <a:r>
              <a:rPr lang="en-US" sz="2400" dirty="0">
                <a:solidFill>
                  <a:schemeClr val="bg1"/>
                </a:solidFill>
              </a:rPr>
              <a:t> keyword. A class can only extend one other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Implement: Interfaces can be used to define the type a class must follow through the </a:t>
            </a:r>
            <a:r>
              <a:rPr lang="en-US" sz="2400" dirty="0">
                <a:solidFill>
                  <a:schemeClr val="accent6"/>
                </a:solidFill>
              </a:rPr>
              <a:t>implements</a:t>
            </a:r>
            <a:r>
              <a:rPr lang="en-US" sz="2400" dirty="0">
                <a:solidFill>
                  <a:schemeClr val="bg1"/>
                </a:solidFill>
              </a:rPr>
              <a:t> keyword.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Override: Classes can override a base class method through the </a:t>
            </a:r>
            <a:r>
              <a:rPr lang="en-US" sz="2400" dirty="0">
                <a:solidFill>
                  <a:schemeClr val="accent6"/>
                </a:solidFill>
              </a:rPr>
              <a:t>override</a:t>
            </a:r>
            <a:r>
              <a:rPr lang="en-US" sz="2400" dirty="0">
                <a:solidFill>
                  <a:schemeClr val="bg1"/>
                </a:solidFill>
              </a:rPr>
              <a:t> keyword.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4B8BA-355D-DE43-5FD1-9FBFA07750EE}"/>
              </a:ext>
            </a:extLst>
          </p:cNvPr>
          <p:cNvSpPr txBox="1"/>
          <p:nvPr/>
        </p:nvSpPr>
        <p:spPr>
          <a:xfrm>
            <a:off x="8691735" y="624348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3952762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3F5B0-A022-58D4-63BE-9866E546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9C74DEC-DEEC-E46B-FDE2-1F50B2B11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825708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Generics</a:t>
            </a:r>
            <a:r>
              <a:rPr lang="en-US" dirty="0">
                <a:solidFill>
                  <a:schemeClr val="bg1"/>
                </a:solidFill>
              </a:rPr>
              <a:t> allows developers to create reusable components that can work with a variety of data types while maintaining type safety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B4CCC2-B004-6BEE-BA29-175D2BF66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27487"/>
            <a:ext cx="10810291" cy="9335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Generics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4743F4-BA2D-82F7-6228-CD57D97CDD7F}"/>
              </a:ext>
            </a:extLst>
          </p:cNvPr>
          <p:cNvSpPr txBox="1"/>
          <p:nvPr/>
        </p:nvSpPr>
        <p:spPr>
          <a:xfrm>
            <a:off x="884899" y="1710812"/>
            <a:ext cx="9360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Generics can be implemented with functions, interfaces, etc.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940AD-DD74-AD48-6419-532DFD6D0F01}"/>
              </a:ext>
            </a:extLst>
          </p:cNvPr>
          <p:cNvSpPr txBox="1"/>
          <p:nvPr/>
        </p:nvSpPr>
        <p:spPr>
          <a:xfrm>
            <a:off x="8691735" y="624348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FD3F4-603B-3973-86CE-66278C865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612" y="2550930"/>
            <a:ext cx="4346774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43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D20B1-E7A1-7789-748F-706F7099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79FE-F72E-3F2C-6C68-DBD049172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342672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3D469-72C7-BAF5-166A-0FA84FD7D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3833" y="803044"/>
            <a:ext cx="9704439" cy="4997987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 module is just a file that contains reusable code like variables, functions, or classes, and can be imported or exported to other files.</a:t>
            </a:r>
          </a:p>
          <a:p>
            <a:pPr algn="l"/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dirty="0">
                <a:solidFill>
                  <a:schemeClr val="bg1"/>
                </a:solidFill>
              </a:rPr>
              <a:t>There are two module systems in JavaScript: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CommonJS </a:t>
            </a:r>
            <a:r>
              <a:rPr lang="en-US" dirty="0">
                <a:solidFill>
                  <a:schemeClr val="bg1"/>
                </a:solidFill>
              </a:rPr>
              <a:t>(CJS): used in older versions of Node.js (&lt;13). File extension are .js or .cjs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ES Modules </a:t>
            </a:r>
            <a:r>
              <a:rPr lang="en-US" dirty="0">
                <a:solidFill>
                  <a:schemeClr val="bg1"/>
                </a:solidFill>
              </a:rPr>
              <a:t>(ESM): Used in Modern JS (browser &amp; Node &gt;= v13). File extension are .mjs or "type": "module" in package.json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B42F2-C6A7-50C7-5B90-273FE091E009}"/>
              </a:ext>
            </a:extLst>
          </p:cNvPr>
          <p:cNvSpPr txBox="1"/>
          <p:nvPr/>
        </p:nvSpPr>
        <p:spPr>
          <a:xfrm>
            <a:off x="1533833" y="618449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2623622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7248</TotalTime>
  <Words>831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What is TypeScript?</vt:lpstr>
      <vt:lpstr>Basic Types</vt:lpstr>
      <vt:lpstr>Basic Types</vt:lpstr>
      <vt:lpstr>Basic Types</vt:lpstr>
      <vt:lpstr>Basic Types</vt:lpstr>
      <vt:lpstr>Type Aliases, Union Types, Intersection Types</vt:lpstr>
      <vt:lpstr>Functions Typing and Interfaces</vt:lpstr>
      <vt:lpstr>Classes and OOP Concepts</vt:lpstr>
      <vt:lpstr>Generics</vt:lpstr>
      <vt:lpstr>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 OKEKE</dc:creator>
  <cp:lastModifiedBy>CHRISTIAN  OKEKE</cp:lastModifiedBy>
  <cp:revision>83</cp:revision>
  <dcterms:created xsi:type="dcterms:W3CDTF">2025-09-24T09:42:11Z</dcterms:created>
  <dcterms:modified xsi:type="dcterms:W3CDTF">2025-11-09T09:58:21Z</dcterms:modified>
</cp:coreProperties>
</file>