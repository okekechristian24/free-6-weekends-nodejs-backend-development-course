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9" r:id="rId3"/>
    <p:sldId id="256" r:id="rId4"/>
    <p:sldId id="280" r:id="rId5"/>
    <p:sldId id="282" r:id="rId6"/>
    <p:sldId id="283" r:id="rId7"/>
    <p:sldId id="278" r:id="rId8"/>
    <p:sldId id="285" r:id="rId9"/>
    <p:sldId id="284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91919"/>
    <a:srgbClr val="222222"/>
    <a:srgbClr val="636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C941-3A21-2AB7-6604-968635A99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82507-73C1-FA62-F919-6A44D2C1C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F415A-D7FB-7F71-B080-11843873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5FF6A-D146-D3CD-E6A3-810E93E2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B2E9C-15B8-2748-FB9B-EA597A6E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8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0ED9-E2B2-4A1D-6FE5-4A8AB943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08EB6-3B58-8C73-97F3-0D412C67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BC3C-EC3A-90E1-09BC-6622AB54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52C25-C228-390D-8EBE-4D69F70EB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48A92-BAEC-0CE2-B6A5-3ADF7C3D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00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8823-3386-EC0F-EB27-01F21838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286ED-3F5D-19BA-5D18-3F2F4B3D1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BF11B-5E35-5DD9-45F4-BAB4DDBA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A7E58-C200-CE9C-A8D6-871FAB18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E7EFC-1E73-2557-B37A-46BD5E57E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5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01B7-3820-65E4-EF85-48D68FB1A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4E91E-D454-F823-0D68-D0DBF1360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44E22-FDFE-75B7-5B32-BFD6BB001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4BFCF-CAC3-6300-BB6A-C60F0859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CA505-3EB0-ACEA-800B-E68BE281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4BD58-E3EE-861C-B97B-0D3C1EE9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6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3891-5A80-0C9F-5612-2CD00A8D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AA6E1-788D-1814-E255-54FBC788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92E2E-B93F-031B-904D-DF82AD451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49598-A29F-38AE-A544-8E3457910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D3BF71-0A2B-A2B5-4A34-24B3E0A7E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B9A63-03B9-4C20-47BA-5BB1B3BC2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15CF4C-79C2-1401-E311-8BEE8922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A3C9-8BCA-2BB9-84AC-A0698F4A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28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9009-E316-1421-D9E0-4AB70A7D4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BA260-2D4A-5469-E2AA-62966E4C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2BD63-70F0-C47D-78E5-7E8389ED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8DD65-A229-EBB8-D71A-D85C1656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7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C8785-5752-B092-9D8A-8F9A8192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B53F8D-970F-B1F0-BF22-9E8DF5B8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F23FA-13CA-5BD3-11E9-BF73EE1E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6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F084-2B37-8973-B804-4B538F9FA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99AAD-2225-AD6C-0D77-E9EE054C2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F0CB0-C70D-BBF6-A12F-EBC6639F1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2BD70-5A93-A34C-DD43-C19F06F6B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24D6B-D08D-C6CB-8E30-F7A3C3CAB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23529-D4D4-15CA-E464-30558F6B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95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5B7A-D876-C386-FAF1-B681E827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9DB7B1-F29B-5DED-2D67-C185DA3E4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BF9CD-C521-041B-6D41-84C52FFE5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2507B-0B1B-35A1-B0BF-69240419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5137A-3E56-6BB2-0905-A193FE87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BE56D-8C92-37CA-6649-19D8D272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1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C759-2403-B7CC-1776-5ED763FE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A3AE-637D-5D1C-D763-54DF7B51D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53E30-5252-71C0-DA70-7046B7DB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54C28-E78C-4552-C27E-212D7DB6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AF470-508A-5BF8-F525-5254414A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9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5609C-8E10-FCA6-BACA-EA23E4869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B88BD-2A23-E8F6-EF55-BEB92C86B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5C034-E4C4-D825-56D0-116BA037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7A7DE-E7FB-4842-76A0-2CB61483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C3C9D-69E9-9334-1A6F-DB4E2DBF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8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7836B-7E4D-D881-EBF9-DCB64919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ABA5A-3F3B-0E97-F867-16BAD7626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C41CB-5983-6627-8CBD-30E162642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23B7A-5934-4F5A-8C7D-D0F7EE1498F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B34DB-B5CB-3BD1-05FE-E28574EC9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7E62D-4F75-4E5C-B36B-717B83AAC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37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6DF2B-1972-4645-95F8-B23E0E7F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AD935304-51E5-B423-1248-3858F0F53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51" y="697889"/>
            <a:ext cx="10667337" cy="93359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JavaScript </a:t>
            </a:r>
            <a:r>
              <a:rPr lang="en-US" dirty="0">
                <a:solidFill>
                  <a:schemeClr val="bg1"/>
                </a:solidFill>
              </a:rPr>
              <a:t>is a scripting or programming language that allows you to implement complex features on web pages.</a:t>
            </a:r>
          </a:p>
          <a:p>
            <a:pPr algn="just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EA7F081-55AE-D3D3-1C8C-2107735A4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86479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What is JavaScript?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63AE9A6-E759-570C-0A1E-C609456CCDCD}"/>
              </a:ext>
            </a:extLst>
          </p:cNvPr>
          <p:cNvSpPr txBox="1">
            <a:spLocks/>
          </p:cNvSpPr>
          <p:nvPr/>
        </p:nvSpPr>
        <p:spPr>
          <a:xfrm>
            <a:off x="791499" y="1823687"/>
            <a:ext cx="10667337" cy="9335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chemeClr val="bg1"/>
                </a:solidFill>
              </a:rPr>
              <a:t>It was created in </a:t>
            </a:r>
            <a:r>
              <a:rPr lang="en-US" b="1" dirty="0">
                <a:solidFill>
                  <a:schemeClr val="bg1"/>
                </a:solidFill>
              </a:rPr>
              <a:t>1995 by Brendan Eich</a:t>
            </a:r>
            <a:r>
              <a:rPr lang="en-US" dirty="0">
                <a:solidFill>
                  <a:schemeClr val="bg1"/>
                </a:solidFill>
              </a:rPr>
              <a:t> at </a:t>
            </a:r>
            <a:r>
              <a:rPr lang="en-US" b="1" dirty="0">
                <a:solidFill>
                  <a:schemeClr val="bg1"/>
                </a:solidFill>
              </a:rPr>
              <a:t>Netscape</a:t>
            </a:r>
            <a:r>
              <a:rPr lang="en-US" dirty="0">
                <a:solidFill>
                  <a:schemeClr val="bg1"/>
                </a:solidFill>
              </a:rPr>
              <a:t>, specifically for web browsers to make web pages </a:t>
            </a:r>
            <a:r>
              <a:rPr lang="en-US" b="1" dirty="0">
                <a:solidFill>
                  <a:schemeClr val="bg1"/>
                </a:solidFill>
              </a:rPr>
              <a:t>interactive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dynamic</a:t>
            </a:r>
            <a:r>
              <a:rPr lang="en-US" dirty="0">
                <a:solidFill>
                  <a:schemeClr val="bg1"/>
                </a:solidFill>
              </a:rPr>
              <a:t>. So, JavaScript ran </a:t>
            </a:r>
            <a:r>
              <a:rPr lang="en-US" b="1" dirty="0">
                <a:solidFill>
                  <a:schemeClr val="bg1"/>
                </a:solidFill>
              </a:rPr>
              <a:t>inside the browser </a:t>
            </a:r>
            <a:r>
              <a:rPr lang="en-US" dirty="0">
                <a:solidFill>
                  <a:schemeClr val="bg1"/>
                </a:solidFill>
              </a:rPr>
              <a:t>fully controlled by the browser’s engine (JavaScript Runtime Environment).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C62D0A3-EEB2-77BD-9726-FE7F57BC5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707721"/>
              </p:ext>
            </p:extLst>
          </p:nvPr>
        </p:nvGraphicFramePr>
        <p:xfrm>
          <a:off x="2032000" y="4259285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241510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70412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37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Chrome/Edge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V8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912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Firefox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SpiderMonkey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10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Safari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JavaScriptCore(Nitro)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56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Opera(modern)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V8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43647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25E711DE-06F8-ECB5-392A-27347875DCF3}"/>
              </a:ext>
            </a:extLst>
          </p:cNvPr>
          <p:cNvSpPr txBox="1">
            <a:spLocks/>
          </p:cNvSpPr>
          <p:nvPr/>
        </p:nvSpPr>
        <p:spPr>
          <a:xfrm>
            <a:off x="855409" y="2969147"/>
            <a:ext cx="10667337" cy="9335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chemeClr val="bg1"/>
                </a:solidFill>
              </a:rPr>
              <a:t>In 2009, </a:t>
            </a:r>
            <a:r>
              <a:rPr lang="en-US" b="1" dirty="0">
                <a:solidFill>
                  <a:schemeClr val="bg1"/>
                </a:solidFill>
              </a:rPr>
              <a:t>Ryan Dahl</a:t>
            </a:r>
            <a:r>
              <a:rPr lang="en-US" dirty="0">
                <a:solidFill>
                  <a:schemeClr val="bg1"/>
                </a:solidFill>
              </a:rPr>
              <a:t> created Node.js by taking the </a:t>
            </a:r>
            <a:r>
              <a:rPr lang="en-US" b="1" dirty="0">
                <a:solidFill>
                  <a:schemeClr val="bg1"/>
                </a:solidFill>
              </a:rPr>
              <a:t>V8 engine (from Chrome),</a:t>
            </a:r>
            <a:r>
              <a:rPr lang="en-US" dirty="0">
                <a:solidFill>
                  <a:schemeClr val="bg1"/>
                </a:solidFill>
              </a:rPr>
              <a:t> integrated it with other C++ programs, and ran it </a:t>
            </a:r>
            <a:r>
              <a:rPr lang="en-US" b="1" dirty="0">
                <a:solidFill>
                  <a:schemeClr val="bg1"/>
                </a:solidFill>
              </a:rPr>
              <a:t>outside the browser</a:t>
            </a:r>
            <a:r>
              <a:rPr lang="en-US" dirty="0">
                <a:solidFill>
                  <a:schemeClr val="bg1"/>
                </a:solidFill>
              </a:rPr>
              <a:t>, on a computer or a server.</a:t>
            </a:r>
          </a:p>
        </p:txBody>
      </p:sp>
    </p:spTree>
    <p:extLst>
      <p:ext uri="{BB962C8B-B14F-4D97-AF65-F5344CB8AC3E}">
        <p14:creationId xmlns:p14="http://schemas.microsoft.com/office/powerpoint/2010/main" val="178194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6EE242-68D2-8660-689F-41837650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E00F7A-2198-59C9-1903-FC76D729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696" y="560438"/>
            <a:ext cx="9144000" cy="754105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/>
                </a:solidFill>
              </a:rPr>
              <a:t>Technical Differences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221D76-A3D8-DD12-00BC-38982A0E0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31493"/>
              </p:ext>
            </p:extLst>
          </p:nvPr>
        </p:nvGraphicFramePr>
        <p:xfrm>
          <a:off x="553061" y="1887793"/>
          <a:ext cx="11157156" cy="3195483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719052">
                  <a:extLst>
                    <a:ext uri="{9D8B030D-6E8A-4147-A177-3AD203B41FA5}">
                      <a16:colId xmlns:a16="http://schemas.microsoft.com/office/drawing/2014/main" val="1332725698"/>
                    </a:ext>
                  </a:extLst>
                </a:gridCol>
                <a:gridCol w="3719052">
                  <a:extLst>
                    <a:ext uri="{9D8B030D-6E8A-4147-A177-3AD203B41FA5}">
                      <a16:colId xmlns:a16="http://schemas.microsoft.com/office/drawing/2014/main" val="138909236"/>
                    </a:ext>
                  </a:extLst>
                </a:gridCol>
                <a:gridCol w="3719052">
                  <a:extLst>
                    <a:ext uri="{9D8B030D-6E8A-4147-A177-3AD203B41FA5}">
                      <a16:colId xmlns:a16="http://schemas.microsoft.com/office/drawing/2014/main" val="3506027949"/>
                    </a:ext>
                  </a:extLst>
                </a:gridCol>
              </a:tblGrid>
              <a:tr h="473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Browser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NodeJS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156980"/>
                  </a:ext>
                </a:extLst>
              </a:tr>
              <a:tr h="473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Engine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V8 (or SpiderMonkey,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V8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476961"/>
                  </a:ext>
                </a:extLst>
              </a:tr>
              <a:tr h="473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Window, DOM, Web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File system, HTTP, Process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629388"/>
                  </a:ext>
                </a:extLst>
              </a:tr>
              <a:tr h="473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UI interactions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Server-side logic, tools,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9033055"/>
                  </a:ext>
                </a:extLst>
              </a:tr>
              <a:tr h="473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Globals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window, document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global, process, require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295185"/>
                  </a:ext>
                </a:extLst>
              </a:tr>
              <a:tr h="828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Modules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import/export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CommonJS (require), now also ES Modules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700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498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F69966-77FF-430D-70B5-D61BDEE6B665}"/>
              </a:ext>
            </a:extLst>
          </p:cNvPr>
          <p:cNvSpPr txBox="1"/>
          <p:nvPr/>
        </p:nvSpPr>
        <p:spPr>
          <a:xfrm>
            <a:off x="1238862" y="2083630"/>
            <a:ext cx="8396749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Variables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Operators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Data Types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Scopes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Destructuring, Spread, Rest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Control Flow and Error Handling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Classes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Primitive Wrapper Objects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Async JavaScript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Modules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5CCE79-6ED6-3F6E-D1F2-8ACF9540B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7357" y="1130711"/>
            <a:ext cx="10333703" cy="85671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Topics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E9A996A-0F09-C028-F442-DF361F59D959}"/>
              </a:ext>
            </a:extLst>
          </p:cNvPr>
          <p:cNvSpPr txBox="1">
            <a:spLocks/>
          </p:cNvSpPr>
          <p:nvPr/>
        </p:nvSpPr>
        <p:spPr>
          <a:xfrm>
            <a:off x="349321" y="-88159"/>
            <a:ext cx="10810291" cy="933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JavaScript Fundamentals</a:t>
            </a:r>
          </a:p>
        </p:txBody>
      </p:sp>
    </p:spTree>
    <p:extLst>
      <p:ext uri="{BB962C8B-B14F-4D97-AF65-F5344CB8AC3E}">
        <p14:creationId xmlns:p14="http://schemas.microsoft.com/office/powerpoint/2010/main" val="395109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CD0B1-2FE3-DD3D-DCB6-44551B37A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B31E-AC82-8108-7315-1F3DD50FE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78653"/>
            <a:ext cx="10333703" cy="85671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04D9A-7047-89BF-D455-DBE86B19804A}"/>
              </a:ext>
            </a:extLst>
          </p:cNvPr>
          <p:cNvSpPr txBox="1"/>
          <p:nvPr/>
        </p:nvSpPr>
        <p:spPr>
          <a:xfrm>
            <a:off x="1379718" y="851370"/>
            <a:ext cx="860665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Variables are declared with </a:t>
            </a:r>
            <a:r>
              <a:rPr lang="en-US" sz="2000" dirty="0">
                <a:solidFill>
                  <a:schemeClr val="accent6"/>
                </a:solidFill>
              </a:rPr>
              <a:t>var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>
                <a:solidFill>
                  <a:schemeClr val="accent6"/>
                </a:solidFill>
              </a:rPr>
              <a:t>let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>
                <a:solidFill>
                  <a:schemeClr val="accent6"/>
                </a:solidFill>
              </a:rPr>
              <a:t>const </a:t>
            </a:r>
            <a:r>
              <a:rPr lang="en-US" sz="2000" dirty="0">
                <a:solidFill>
                  <a:schemeClr val="bg1"/>
                </a:solidFill>
              </a:rPr>
              <a:t>keywords, or automatically created when it is used.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They are identified with unique names called identifiers.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rules for constructing names (identifiers)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Names can contain </a:t>
            </a:r>
            <a:r>
              <a:rPr lang="en-US" sz="2000" dirty="0">
                <a:solidFill>
                  <a:schemeClr val="accent6"/>
                </a:solidFill>
              </a:rPr>
              <a:t>letters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>
                <a:solidFill>
                  <a:schemeClr val="accent6"/>
                </a:solidFill>
              </a:rPr>
              <a:t>digits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>
                <a:solidFill>
                  <a:schemeClr val="accent6"/>
                </a:solidFill>
              </a:rPr>
              <a:t>dollar</a:t>
            </a:r>
            <a:r>
              <a:rPr lang="en-US" sz="2000" dirty="0">
                <a:solidFill>
                  <a:schemeClr val="bg1"/>
                </a:solidFill>
              </a:rPr>
              <a:t> ($) sign, and </a:t>
            </a:r>
            <a:r>
              <a:rPr lang="en-US" sz="2000" dirty="0">
                <a:solidFill>
                  <a:schemeClr val="accent6"/>
                </a:solidFill>
              </a:rPr>
              <a:t>underscore </a:t>
            </a:r>
            <a:r>
              <a:rPr lang="en-US" sz="2000" dirty="0">
                <a:solidFill>
                  <a:schemeClr val="bg1"/>
                </a:solidFill>
              </a:rPr>
              <a:t>(_).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Names must begin with a </a:t>
            </a:r>
            <a:r>
              <a:rPr lang="en-US" sz="2000" dirty="0">
                <a:solidFill>
                  <a:schemeClr val="accent6"/>
                </a:solidFill>
              </a:rPr>
              <a:t>letter</a:t>
            </a:r>
            <a:r>
              <a:rPr lang="en-US" sz="2000" dirty="0">
                <a:solidFill>
                  <a:schemeClr val="bg1"/>
                </a:solidFill>
              </a:rPr>
              <a:t>, a </a:t>
            </a:r>
            <a:r>
              <a:rPr lang="en-US" sz="2000" dirty="0">
                <a:solidFill>
                  <a:schemeClr val="accent6"/>
                </a:solidFill>
              </a:rPr>
              <a:t>dollar</a:t>
            </a:r>
            <a:r>
              <a:rPr lang="en-US" sz="2000" dirty="0">
                <a:solidFill>
                  <a:schemeClr val="bg1"/>
                </a:solidFill>
              </a:rPr>
              <a:t> ($) sign or an </a:t>
            </a:r>
            <a:r>
              <a:rPr lang="en-US" sz="2000" dirty="0">
                <a:solidFill>
                  <a:schemeClr val="accent6"/>
                </a:solidFill>
              </a:rPr>
              <a:t>underscore</a:t>
            </a:r>
            <a:r>
              <a:rPr lang="en-US" sz="2000" dirty="0">
                <a:solidFill>
                  <a:schemeClr val="bg1"/>
                </a:solidFill>
              </a:rPr>
              <a:t> (_).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Names are case sensitive (X is different from x).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Reserved words (JavaScript keywords) cannot be used as names.</a:t>
            </a:r>
          </a:p>
          <a:p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Valid JavaScript variables: _age, $name5, house2rent, user_name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Invalid JavaScript variables: 5name, name-age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CDCFCCA-55EF-CF15-0B45-98E15D061A15}"/>
              </a:ext>
            </a:extLst>
          </p:cNvPr>
          <p:cNvGrpSpPr/>
          <p:nvPr/>
        </p:nvGrpSpPr>
        <p:grpSpPr>
          <a:xfrm>
            <a:off x="5814077" y="5124737"/>
            <a:ext cx="3185651" cy="1560738"/>
            <a:chOff x="1979487" y="5124737"/>
            <a:chExt cx="3185651" cy="156073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BA6A86F-04F7-33F4-4F40-FFBF928027B4}"/>
                </a:ext>
              </a:extLst>
            </p:cNvPr>
            <p:cNvSpPr/>
            <p:nvPr/>
          </p:nvSpPr>
          <p:spPr>
            <a:xfrm>
              <a:off x="2389239" y="5494069"/>
              <a:ext cx="1445342" cy="87723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John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17B3891-3528-72F2-C323-5CA4BC5AE336}"/>
                </a:ext>
              </a:extLst>
            </p:cNvPr>
            <p:cNvSpPr txBox="1"/>
            <p:nvPr/>
          </p:nvSpPr>
          <p:spPr>
            <a:xfrm>
              <a:off x="2576050" y="6316143"/>
              <a:ext cx="14453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username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9BA148-D8A4-78BA-D5DD-22841A7D91E9}"/>
                </a:ext>
              </a:extLst>
            </p:cNvPr>
            <p:cNvSpPr txBox="1"/>
            <p:nvPr/>
          </p:nvSpPr>
          <p:spPr>
            <a:xfrm>
              <a:off x="1979487" y="5124737"/>
              <a:ext cx="3185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const</a:t>
              </a:r>
              <a:r>
                <a:rPr lang="en-US" dirty="0">
                  <a:solidFill>
                    <a:schemeClr val="bg1"/>
                  </a:solidFill>
                </a:rPr>
                <a:t> username = “John”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F09634-DFA8-F78F-017C-F02629D22926}"/>
              </a:ext>
            </a:extLst>
          </p:cNvPr>
          <p:cNvGrpSpPr/>
          <p:nvPr/>
        </p:nvGrpSpPr>
        <p:grpSpPr>
          <a:xfrm>
            <a:off x="9207922" y="5097686"/>
            <a:ext cx="3272421" cy="1632037"/>
            <a:chOff x="5451995" y="5097686"/>
            <a:chExt cx="3272421" cy="163203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0BCBB3F-DF90-48F5-415D-D2E19CDDFA8A}"/>
                </a:ext>
              </a:extLst>
            </p:cNvPr>
            <p:cNvSpPr/>
            <p:nvPr/>
          </p:nvSpPr>
          <p:spPr>
            <a:xfrm>
              <a:off x="5451995" y="5538315"/>
              <a:ext cx="1445342" cy="87723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45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E8F6BB-CF22-EEC5-B43F-1D3CCDBB0E1B}"/>
                </a:ext>
              </a:extLst>
            </p:cNvPr>
            <p:cNvSpPr txBox="1"/>
            <p:nvPr/>
          </p:nvSpPr>
          <p:spPr>
            <a:xfrm>
              <a:off x="5973103" y="6360391"/>
              <a:ext cx="14453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age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345C9E-32B4-4580-6E09-8ABB7E7B21D9}"/>
                </a:ext>
              </a:extLst>
            </p:cNvPr>
            <p:cNvSpPr txBox="1"/>
            <p:nvPr/>
          </p:nvSpPr>
          <p:spPr>
            <a:xfrm>
              <a:off x="5538765" y="5097686"/>
              <a:ext cx="3185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let</a:t>
              </a:r>
              <a:r>
                <a:rPr lang="en-US" dirty="0">
                  <a:solidFill>
                    <a:schemeClr val="bg1"/>
                  </a:solidFill>
                </a:rPr>
                <a:t> age = 45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F24E4F9-C59A-CA78-405B-B390BFADABAC}"/>
              </a:ext>
            </a:extLst>
          </p:cNvPr>
          <p:cNvSpPr txBox="1"/>
          <p:nvPr/>
        </p:nvSpPr>
        <p:spPr>
          <a:xfrm>
            <a:off x="1514168" y="5732206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2628384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53729" y="1188721"/>
            <a:ext cx="10848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Operators are symbols that tell JavaScript to perform operations on values or variables.</a:t>
            </a:r>
            <a:br>
              <a:rPr sz="2000" dirty="0"/>
            </a:br>
            <a:endParaRPr lang="en-US" sz="2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ABA906-C1EE-C631-3F6E-55E6FDF84FEA}"/>
              </a:ext>
            </a:extLst>
          </p:cNvPr>
          <p:cNvSpPr txBox="1">
            <a:spLocks/>
          </p:cNvSpPr>
          <p:nvPr/>
        </p:nvSpPr>
        <p:spPr>
          <a:xfrm>
            <a:off x="825909" y="117987"/>
            <a:ext cx="10333703" cy="856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Operators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51ED40-1816-F857-82FA-0C46642A4BD3}"/>
              </a:ext>
            </a:extLst>
          </p:cNvPr>
          <p:cNvSpPr txBox="1"/>
          <p:nvPr/>
        </p:nvSpPr>
        <p:spPr>
          <a:xfrm>
            <a:off x="953729" y="2189289"/>
            <a:ext cx="2821859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/>
                </a:solidFill>
                <a:latin typeface="+mj-lt"/>
              </a:rPr>
              <a:t>Arithmetic Operators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Addition (+)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Subtraction (-)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Multiplication (*)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Division (/)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Modulus (%)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Exponentiation (**)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Increment (++)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Decrement (--)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4A07D8-8E05-2E0E-5DF7-679DA2AF6894}"/>
              </a:ext>
            </a:extLst>
          </p:cNvPr>
          <p:cNvSpPr txBox="1"/>
          <p:nvPr/>
        </p:nvSpPr>
        <p:spPr>
          <a:xfrm>
            <a:off x="4685070" y="2189289"/>
            <a:ext cx="2821859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/>
                </a:solidFill>
                <a:latin typeface="+mj-lt"/>
              </a:rPr>
              <a:t>Assignment Operators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Assign (=)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Add &amp; assign (+=)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Subtract &amp; assign (-=)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Multiply &amp; assign (*=)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Divide &amp; assign (/=)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Remainder &amp; assign (%=)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72C5BF-3D29-7F50-2A62-949FECF1E645}"/>
              </a:ext>
            </a:extLst>
          </p:cNvPr>
          <p:cNvSpPr txBox="1"/>
          <p:nvPr/>
        </p:nvSpPr>
        <p:spPr>
          <a:xfrm>
            <a:off x="8329889" y="2118169"/>
            <a:ext cx="2821859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accent6"/>
                </a:solidFill>
              </a:rPr>
              <a:t>Comparison</a:t>
            </a:r>
            <a:r>
              <a:rPr lang="en-US" altLang="en-US" b="1" dirty="0">
                <a:solidFill>
                  <a:schemeClr val="accent6"/>
                </a:solidFill>
                <a:latin typeface="+mj-lt"/>
              </a:rPr>
              <a:t> Operators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Equal (==)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Strict equal (===)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Not equal (!=)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Strict not equal (!==)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Greater (&gt;)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Less (&lt;)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Greater or equal (&gt;=)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Less or equal (&lt;=)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BB1FD9-F5F9-47FC-0F19-287349B1BE00}"/>
              </a:ext>
            </a:extLst>
          </p:cNvPr>
          <p:cNvSpPr txBox="1">
            <a:spLocks/>
          </p:cNvSpPr>
          <p:nvPr/>
        </p:nvSpPr>
        <p:spPr>
          <a:xfrm>
            <a:off x="825909" y="117987"/>
            <a:ext cx="10333703" cy="856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Operators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CC070-5748-86E4-D09A-693314BA247F}"/>
              </a:ext>
            </a:extLst>
          </p:cNvPr>
          <p:cNvSpPr txBox="1"/>
          <p:nvPr/>
        </p:nvSpPr>
        <p:spPr>
          <a:xfrm>
            <a:off x="1283765" y="1465745"/>
            <a:ext cx="2821859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accent6"/>
                </a:solidFill>
              </a:rPr>
              <a:t>Logical</a:t>
            </a:r>
            <a:r>
              <a:rPr lang="en-US" altLang="en-US" b="1" dirty="0">
                <a:solidFill>
                  <a:schemeClr val="accent6"/>
                </a:solidFill>
                <a:latin typeface="+mj-lt"/>
              </a:rPr>
              <a:t> Operators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AND (&amp;&amp;)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OR(||)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NOT (!)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98B83-1F50-A7A3-01E0-446FE13D5941}"/>
              </a:ext>
            </a:extLst>
          </p:cNvPr>
          <p:cNvSpPr txBox="1"/>
          <p:nvPr/>
        </p:nvSpPr>
        <p:spPr>
          <a:xfrm>
            <a:off x="1327356" y="3680890"/>
            <a:ext cx="6583680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/>
                </a:solidFill>
                <a:latin typeface="+mj-lt"/>
              </a:rPr>
              <a:t>Ternary Operators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(? :)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+mj-lt"/>
              </a:rPr>
              <a:t>Shorthand for if...else → condition ? valueIfTrue : valueIfFalse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A13290-20C5-B059-9DC0-BA6629897F51}"/>
              </a:ext>
            </a:extLst>
          </p:cNvPr>
          <p:cNvSpPr txBox="1"/>
          <p:nvPr/>
        </p:nvSpPr>
        <p:spPr>
          <a:xfrm>
            <a:off x="6167121" y="1352925"/>
            <a:ext cx="4492031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accent6"/>
                </a:solidFill>
              </a:rPr>
              <a:t>Type</a:t>
            </a:r>
            <a:r>
              <a:rPr lang="en-US" altLang="en-US" b="1" dirty="0">
                <a:solidFill>
                  <a:schemeClr val="accent6"/>
                </a:solidFill>
                <a:latin typeface="+mj-lt"/>
              </a:rPr>
              <a:t> Operators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+mj-lt"/>
              </a:rPr>
              <a:t>typeof </a:t>
            </a:r>
            <a:r>
              <a:rPr lang="en-US" altLang="en-US" dirty="0">
                <a:solidFill>
                  <a:schemeClr val="bg1"/>
                </a:solidFill>
                <a:latin typeface="+mj-lt"/>
              </a:rPr>
              <a:t>(returns the data type) 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+mj-lt"/>
              </a:rPr>
              <a:t>instanceof</a:t>
            </a:r>
            <a:r>
              <a:rPr lang="en-US" altLang="en-US" dirty="0">
                <a:solidFill>
                  <a:schemeClr val="bg1"/>
                </a:solidFill>
                <a:latin typeface="+mj-lt"/>
              </a:rPr>
              <a:t> (checks instance of an object)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D601E1-369D-960E-C69C-C6FAF54D433C}"/>
              </a:ext>
            </a:extLst>
          </p:cNvPr>
          <p:cNvSpPr txBox="1"/>
          <p:nvPr/>
        </p:nvSpPr>
        <p:spPr>
          <a:xfrm>
            <a:off x="1514170" y="5751870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050CC1-38B3-EE33-5720-9EF6E2F3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CC01-714C-7EE1-3CF6-A537E425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175523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5CE22-F87D-E08A-42E1-D863F715EC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8697" y="978951"/>
            <a:ext cx="9694606" cy="1571209"/>
          </a:xfrm>
        </p:spPr>
        <p:txBody>
          <a:bodyPr>
            <a:noAutofit/>
          </a:bodyPr>
          <a:lstStyle/>
          <a:p>
            <a:pPr algn="l"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Data types define the kind of value a variable can hold (number, string, boolean, object, etc.).</a:t>
            </a:r>
          </a:p>
          <a:p>
            <a:pPr algn="l">
              <a:defRPr sz="2400">
                <a:solidFill>
                  <a:srgbClr val="FFFFFF"/>
                </a:solidFill>
                <a:latin typeface="Calibri"/>
              </a:defRPr>
            </a:pPr>
            <a:endParaRPr lang="en-US" dirty="0"/>
          </a:p>
          <a:p>
            <a:pPr algn="l"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They help JavaScript know how to store, compare, and manipulate values.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244FFC7-AE7F-6BCB-EBF5-A88A6CD3C7B8}"/>
              </a:ext>
            </a:extLst>
          </p:cNvPr>
          <p:cNvSpPr txBox="1">
            <a:spLocks/>
          </p:cNvSpPr>
          <p:nvPr/>
        </p:nvSpPr>
        <p:spPr>
          <a:xfrm>
            <a:off x="1248697" y="2844800"/>
            <a:ext cx="9694606" cy="2966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rgbClr val="FFFFFF"/>
                </a:solidFill>
                <a:latin typeface="Calibri"/>
              </a:rPr>
              <a:t>JavaScript has two categories of data types: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chemeClr val="accent6"/>
                </a:solidFill>
                <a:latin typeface="Calibri"/>
              </a:rPr>
              <a:t>Primitive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alibri"/>
              </a:rPr>
              <a:t>types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(immutable, stored directly)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chemeClr val="accent6"/>
                </a:solidFill>
                <a:latin typeface="Calibri"/>
              </a:rPr>
              <a:t>Non-primitive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/ </a:t>
            </a:r>
            <a:r>
              <a:rPr lang="en-US" dirty="0">
                <a:solidFill>
                  <a:schemeClr val="accent6"/>
                </a:solidFill>
                <a:latin typeface="Calibri"/>
              </a:rPr>
              <a:t>Reference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alibri"/>
              </a:rPr>
              <a:t>types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(stored by reference)</a:t>
            </a:r>
            <a:br>
              <a:rPr lang="en-US" dirty="0">
                <a:solidFill>
                  <a:srgbClr val="FFFFFF"/>
                </a:solidFill>
                <a:latin typeface="Calibri"/>
              </a:rPr>
            </a:br>
            <a:endParaRPr lang="en-US" dirty="0">
              <a:solidFill>
                <a:srgbClr val="FFFFFF"/>
              </a:solidFill>
              <a:latin typeface="Calibri"/>
            </a:endParaRPr>
          </a:p>
          <a:p>
            <a:pPr algn="l"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rgbClr val="FFFFFF"/>
                </a:solidFill>
                <a:latin typeface="Calibri"/>
              </a:rPr>
              <a:t>There are 7 Primitive and 1 Non-Primitive data types.</a:t>
            </a:r>
          </a:p>
        </p:txBody>
      </p:sp>
    </p:spTree>
    <p:extLst>
      <p:ext uri="{BB962C8B-B14F-4D97-AF65-F5344CB8AC3E}">
        <p14:creationId xmlns:p14="http://schemas.microsoft.com/office/powerpoint/2010/main" val="4157719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B3F0E-B3C2-B156-FDE8-C6DD57310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5C74-C57B-D752-D4E8-263FA5E0E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175523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Primitive Data Types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3E57231-5DAA-C9F4-CEEF-47366CE28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818976"/>
              </p:ext>
            </p:extLst>
          </p:nvPr>
        </p:nvGraphicFramePr>
        <p:xfrm>
          <a:off x="1465006" y="1496413"/>
          <a:ext cx="9134168" cy="4619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596">
                  <a:extLst>
                    <a:ext uri="{9D8B030D-6E8A-4147-A177-3AD203B41FA5}">
                      <a16:colId xmlns:a16="http://schemas.microsoft.com/office/drawing/2014/main" val="2690004307"/>
                    </a:ext>
                  </a:extLst>
                </a:gridCol>
                <a:gridCol w="3855286">
                  <a:extLst>
                    <a:ext uri="{9D8B030D-6E8A-4147-A177-3AD203B41FA5}">
                      <a16:colId xmlns:a16="http://schemas.microsoft.com/office/drawing/2014/main" val="2572354226"/>
                    </a:ext>
                  </a:extLst>
                </a:gridCol>
                <a:gridCol w="3855286">
                  <a:extLst>
                    <a:ext uri="{9D8B030D-6E8A-4147-A177-3AD203B41FA5}">
                      <a16:colId xmlns:a16="http://schemas.microsoft.com/office/drawing/2014/main" val="1692451983"/>
                    </a:ext>
                  </a:extLst>
                </a:gridCol>
              </a:tblGrid>
              <a:tr h="453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684561"/>
                  </a:ext>
                </a:extLst>
              </a:tr>
              <a:tr h="453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"Hello“, 'World'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75719"/>
                  </a:ext>
                </a:extLst>
              </a:tr>
              <a:tr h="78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Numeric values (integers, floats, special values)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42, 3.14, </a:t>
                      </a:r>
                      <a:r>
                        <a:rPr lang="en-US" dirty="0" err="1"/>
                        <a:t>NaN</a:t>
                      </a:r>
                      <a:r>
                        <a:rPr lang="en-US" dirty="0"/>
                        <a:t>,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Infinity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26699"/>
                  </a:ext>
                </a:extLst>
              </a:tr>
              <a:tr h="78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BigInt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 integers beyond `Number`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12345678901234567890n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98499"/>
                  </a:ext>
                </a:extLst>
              </a:tr>
              <a:tr h="453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 or false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True,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186631"/>
                  </a:ext>
                </a:extLst>
              </a:tr>
              <a:tr h="78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Declared variable but not 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 x; // undefined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682593"/>
                  </a:ext>
                </a:extLst>
              </a:tr>
              <a:tr h="453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Intentionally empty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 y =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484385"/>
                  </a:ext>
                </a:extLst>
              </a:tr>
              <a:tr h="453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 identifiers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Symbol('id')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484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09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0BFE7A-DD66-22F5-84EE-721D175C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0FF7D-C045-B831-B4AD-D270B6404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175523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Non-Primitive 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AD5CD-51B5-D684-DDA0-BB0860452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5005" y="1187066"/>
            <a:ext cx="9694606" cy="60240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Non-primitive types are known as objects.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B4B29EF-DA43-E68B-4EF6-BB66EB0DFDD8}"/>
              </a:ext>
            </a:extLst>
          </p:cNvPr>
          <p:cNvSpPr txBox="1">
            <a:spLocks/>
          </p:cNvSpPr>
          <p:nvPr/>
        </p:nvSpPr>
        <p:spPr>
          <a:xfrm>
            <a:off x="1494505" y="1836210"/>
            <a:ext cx="10617678" cy="2892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Examples include: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Object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Array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Function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Map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D56DC-D6A0-7617-AAA0-DC73C2613388}"/>
              </a:ext>
            </a:extLst>
          </p:cNvPr>
          <p:cNvSpPr txBox="1"/>
          <p:nvPr/>
        </p:nvSpPr>
        <p:spPr>
          <a:xfrm>
            <a:off x="1563330" y="5732206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409081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500933-0DB6-EA98-1B29-00602E9A7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2CB83-CF17-8200-49B1-01FE0C97D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175523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Scopes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3DC0B-9C31-8885-F178-96007530E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3666" y="1284827"/>
            <a:ext cx="9694606" cy="4240902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The 4 Main Types of Scope in JavaScript: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</a:rPr>
              <a:t>Global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Scope</a:t>
            </a:r>
            <a:r>
              <a:rPr lang="en-US" dirty="0">
                <a:solidFill>
                  <a:schemeClr val="bg1"/>
                </a:solidFill>
              </a:rPr>
              <a:t>: Accessible anywhere in the code e.g. Outside all functions/blocks.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</a:rPr>
              <a:t>Function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Scope</a:t>
            </a:r>
            <a:r>
              <a:rPr lang="en-US" dirty="0">
                <a:solidFill>
                  <a:schemeClr val="bg1"/>
                </a:solidFill>
              </a:rPr>
              <a:t>: Accessible only inside a specific function e.g. Created with </a:t>
            </a:r>
            <a:r>
              <a:rPr lang="en-US" dirty="0">
                <a:solidFill>
                  <a:schemeClr val="accent6"/>
                </a:solidFill>
              </a:rPr>
              <a:t>var</a:t>
            </a:r>
            <a:r>
              <a:rPr lang="en-US" dirty="0">
                <a:solidFill>
                  <a:schemeClr val="bg1"/>
                </a:solidFill>
              </a:rPr>
              <a:t> or inside a function.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</a:rPr>
              <a:t>Block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Scope</a:t>
            </a:r>
            <a:r>
              <a:rPr lang="en-US" dirty="0">
                <a:solidFill>
                  <a:schemeClr val="bg1"/>
                </a:solidFill>
              </a:rPr>
              <a:t>: Accessible only inside { ... } blocks e.g. Created with </a:t>
            </a:r>
            <a:r>
              <a:rPr lang="en-US" dirty="0">
                <a:solidFill>
                  <a:schemeClr val="accent6"/>
                </a:solidFill>
              </a:rPr>
              <a:t>let</a:t>
            </a:r>
            <a:r>
              <a:rPr lang="en-US" dirty="0">
                <a:solidFill>
                  <a:schemeClr val="bg1"/>
                </a:solidFill>
              </a:rPr>
              <a:t> or </a:t>
            </a:r>
            <a:r>
              <a:rPr lang="en-US" dirty="0">
                <a:solidFill>
                  <a:schemeClr val="accent6"/>
                </a:solidFill>
              </a:rPr>
              <a:t>const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</a:rPr>
              <a:t>Lexical Scope</a:t>
            </a:r>
            <a:r>
              <a:rPr lang="en-US" dirty="0">
                <a:solidFill>
                  <a:schemeClr val="bg1"/>
                </a:solidFill>
              </a:rPr>
              <a:t> (Closures): Inner functions have access to variables of their parent functions e.g. Defines how scopes are nested.</a:t>
            </a:r>
          </a:p>
          <a:p>
            <a:pPr algn="l"/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FD021-B651-7BB4-6E62-E6460966C107}"/>
              </a:ext>
            </a:extLst>
          </p:cNvPr>
          <p:cNvSpPr txBox="1"/>
          <p:nvPr/>
        </p:nvSpPr>
        <p:spPr>
          <a:xfrm>
            <a:off x="1582996" y="5732206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1456668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29176-4448-6784-40E2-9F47E2AA8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C4968-E509-BC11-6D21-11F571E6E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175523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Control Flow &amp; Error Handling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AB9BF-21BE-E4D6-B4B8-ACE9D4DE3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3666" y="1284827"/>
            <a:ext cx="9694606" cy="4240902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Control flow determines the order in which JavaScript executes statements in a program. 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By default, JavaScript runs from top to bottom, left to right —but control structures like if, for, while, switch, etc. can alter that order.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Examples: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if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switch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loops (for, for...of, for...in, while, do...while) </a:t>
            </a:r>
          </a:p>
        </p:txBody>
      </p:sp>
    </p:spTree>
    <p:extLst>
      <p:ext uri="{BB962C8B-B14F-4D97-AF65-F5344CB8AC3E}">
        <p14:creationId xmlns:p14="http://schemas.microsoft.com/office/powerpoint/2010/main" val="3905968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C45A37-A018-F6D4-E7DE-EC684D48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C5D07-14B7-6253-13F7-DF46BEBA0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175523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Control Flow &amp; Error Handling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E6928-4BAF-33A1-E804-C27B5A22C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3666" y="1284827"/>
            <a:ext cx="9694606" cy="4240902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Errors are inevitable — network failures, invalid inputs, missing files, etc.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To prevent the entire program from crashing, we use try...catch...finally.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08AB68-A496-E63C-47C5-548D2C03A1EB}"/>
              </a:ext>
            </a:extLst>
          </p:cNvPr>
          <p:cNvSpPr txBox="1"/>
          <p:nvPr/>
        </p:nvSpPr>
        <p:spPr>
          <a:xfrm>
            <a:off x="1533833" y="4277032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1378988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06352-7B90-7C86-275C-949D64099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01D18-5566-0246-D92D-6D82719AC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332840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323F6-2F6E-DCCF-E450-58D65ADF8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5006" y="793217"/>
            <a:ext cx="9694606" cy="5155302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dirty="0">
                <a:solidFill>
                  <a:schemeClr val="accent6"/>
                </a:solidFill>
              </a:rPr>
              <a:t>class</a:t>
            </a:r>
            <a:r>
              <a:rPr lang="en-US" dirty="0">
                <a:solidFill>
                  <a:schemeClr val="bg1"/>
                </a:solidFill>
              </a:rPr>
              <a:t> in JavaScript is a template or blueprint for creating objects that share the same structure (properties) and behavior (methods). 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Introduced in ES6 (2015), classes provide a cleaner, more readable syntax for working with prototypes.</a:t>
            </a:r>
          </a:p>
          <a:p>
            <a:pPr algn="l"/>
            <a:endParaRPr lang="en-US" dirty="0">
              <a:solidFill>
                <a:schemeClr val="bg1"/>
              </a:solidFill>
            </a:endParaRPr>
          </a:p>
          <a:p>
            <a:pPr algn="l"/>
            <a:r>
              <a:rPr lang="en-US" dirty="0">
                <a:solidFill>
                  <a:schemeClr val="bg1"/>
                </a:solidFill>
              </a:rPr>
              <a:t>Key points: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constructor()</a:t>
            </a:r>
            <a:r>
              <a:rPr lang="en-US" dirty="0">
                <a:solidFill>
                  <a:schemeClr val="bg1"/>
                </a:solidFill>
              </a:rPr>
              <a:t> is a special method automatically called when you create a new object using </a:t>
            </a:r>
            <a:r>
              <a:rPr lang="en-US" dirty="0">
                <a:solidFill>
                  <a:schemeClr val="accent6"/>
                </a:solidFill>
              </a:rPr>
              <a:t>new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Inside the class, </a:t>
            </a:r>
            <a:r>
              <a:rPr lang="en-US" dirty="0">
                <a:solidFill>
                  <a:schemeClr val="accent6"/>
                </a:solidFill>
              </a:rPr>
              <a:t>this</a:t>
            </a:r>
            <a:r>
              <a:rPr lang="en-US" dirty="0">
                <a:solidFill>
                  <a:schemeClr val="bg1"/>
                </a:solidFill>
              </a:rPr>
              <a:t> refers to the instance being created.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Methods defined inside the class are added to the class’s prototype.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An instance of a class is called an </a:t>
            </a:r>
            <a:r>
              <a:rPr lang="en-US" dirty="0">
                <a:solidFill>
                  <a:schemeClr val="accent6"/>
                </a:solidFill>
              </a:rPr>
              <a:t>Object</a:t>
            </a:r>
            <a:r>
              <a:rPr lang="en-US" dirty="0">
                <a:solidFill>
                  <a:schemeClr val="bg1"/>
                </a:solidFill>
              </a:rPr>
              <a:t>. It is a concrete entity created from the class blueprint, possessing its own unique set of attribute values.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Fields (variables) and methods (functions) in a class are either </a:t>
            </a:r>
            <a:r>
              <a:rPr lang="en-US" dirty="0">
                <a:solidFill>
                  <a:schemeClr val="accent6"/>
                </a:solidFill>
              </a:rPr>
              <a:t>private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accent6"/>
                </a:solidFill>
              </a:rPr>
              <a:t>public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accent6"/>
                </a:solidFill>
              </a:rPr>
              <a:t>static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accent6"/>
                </a:solidFill>
              </a:rPr>
              <a:t>non-static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18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E3681-1896-87F7-B01D-B67D25ACC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9E8E-AAFF-36A7-433F-81A237995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175523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EE6D5C-7928-05AE-E91C-CC116669A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3666" y="1628955"/>
            <a:ext cx="9694606" cy="4594862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4</a:t>
            </a:r>
            <a:r>
              <a:rPr lang="en-US" dirty="0">
                <a:solidFill>
                  <a:schemeClr val="bg1"/>
                </a:solidFill>
              </a:rPr>
              <a:t> OOP concepts are </a:t>
            </a:r>
            <a:r>
              <a:rPr lang="en-US" dirty="0">
                <a:solidFill>
                  <a:schemeClr val="accent6"/>
                </a:solidFill>
              </a:rPr>
              <a:t>Inheritance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accent6"/>
                </a:solidFill>
              </a:rPr>
              <a:t>Encapsulation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accent6"/>
                </a:solidFill>
              </a:rPr>
              <a:t>Abstraction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accent6"/>
                </a:solidFill>
              </a:rPr>
              <a:t>Polymorphism</a:t>
            </a:r>
          </a:p>
          <a:p>
            <a:pPr algn="l"/>
            <a:endParaRPr lang="en-US" dirty="0">
              <a:solidFill>
                <a:schemeClr val="accent6"/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</a:rPr>
              <a:t>Inheritance</a:t>
            </a:r>
            <a:r>
              <a:rPr lang="en-US" dirty="0">
                <a:solidFill>
                  <a:schemeClr val="bg1"/>
                </a:solidFill>
              </a:rPr>
              <a:t> allows one class to reuse and extend another class’s properties and methods.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</a:rPr>
              <a:t>Encapsulation</a:t>
            </a:r>
            <a:r>
              <a:rPr lang="en-US" dirty="0">
                <a:solidFill>
                  <a:schemeClr val="bg1"/>
                </a:solidFill>
              </a:rPr>
              <a:t> means restricting direct access to some of an object’s internal data.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</a:rPr>
              <a:t>Abstraction</a:t>
            </a:r>
            <a:r>
              <a:rPr lang="en-US" dirty="0">
                <a:solidFill>
                  <a:schemeClr val="bg1"/>
                </a:solidFill>
              </a:rPr>
              <a:t> means hiding complexity and exposing only what’s necessary.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</a:rPr>
              <a:t>Polymorphism</a:t>
            </a:r>
            <a:r>
              <a:rPr lang="en-US" dirty="0">
                <a:solidFill>
                  <a:schemeClr val="bg1"/>
                </a:solidFill>
              </a:rPr>
              <a:t> means many forms — the same method name behaves differently depending on the object. Child classes can override parent class methods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49F9F3-8376-C883-1210-B8986AB87EEC}"/>
              </a:ext>
            </a:extLst>
          </p:cNvPr>
          <p:cNvSpPr txBox="1">
            <a:spLocks/>
          </p:cNvSpPr>
          <p:nvPr/>
        </p:nvSpPr>
        <p:spPr>
          <a:xfrm>
            <a:off x="978309" y="904568"/>
            <a:ext cx="10333703" cy="6944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Object-Oriented Programming (OOP)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BA740-F9B2-3022-AF5F-BB0CDA99C7CC}"/>
              </a:ext>
            </a:extLst>
          </p:cNvPr>
          <p:cNvSpPr txBox="1"/>
          <p:nvPr/>
        </p:nvSpPr>
        <p:spPr>
          <a:xfrm>
            <a:off x="1533833" y="6223822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1601622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63BBA-D1E8-FAD3-380E-CC0D7E20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D7D2-34BD-7062-C14F-71A19C339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175523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Primitive Wrapper Objects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9A292-0981-0CD4-3200-E35471D9B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3666" y="1157007"/>
            <a:ext cx="9694606" cy="4594862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In JavaScript, primitive values (strings, numbers, booleans) are not objects, 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but they have access to methods and properties through </a:t>
            </a:r>
            <a:r>
              <a:rPr lang="en-US" dirty="0">
                <a:solidFill>
                  <a:schemeClr val="accent6"/>
                </a:solidFill>
              </a:rPr>
              <a:t>Primitive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Wrapper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Objects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When you try to access a property or method on a primitive, JavaScript automatically wraps it in a temporary object, uses the method/property, then discards the wrapper.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Because of Primitive Wrapper Objects, we can call methods and access properties on primitive values e.g.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let str = </a:t>
            </a:r>
            <a:r>
              <a:rPr lang="en-US" dirty="0">
                <a:solidFill>
                  <a:schemeClr val="accent6"/>
                </a:solidFill>
              </a:rPr>
              <a:t>"</a:t>
            </a:r>
            <a:r>
              <a:rPr lang="en-US" dirty="0">
                <a:solidFill>
                  <a:schemeClr val="bg1"/>
                </a:solidFill>
              </a:rPr>
              <a:t>hello</a:t>
            </a:r>
            <a:r>
              <a:rPr lang="en-US" dirty="0">
                <a:solidFill>
                  <a:schemeClr val="accent6"/>
                </a:solidFill>
              </a:rPr>
              <a:t>"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str.</a:t>
            </a:r>
            <a:r>
              <a:rPr lang="en-US" dirty="0">
                <a:solidFill>
                  <a:schemeClr val="accent6"/>
                </a:solidFill>
              </a:rPr>
              <a:t>toUpperCase()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str.</a:t>
            </a:r>
            <a:r>
              <a:rPr lang="en-US" dirty="0">
                <a:solidFill>
                  <a:schemeClr val="accent6"/>
                </a:solidFill>
              </a:rPr>
              <a:t>length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4F1322-74FC-2956-CCE7-6B24D2A0E39D}"/>
              </a:ext>
            </a:extLst>
          </p:cNvPr>
          <p:cNvSpPr txBox="1"/>
          <p:nvPr/>
        </p:nvSpPr>
        <p:spPr>
          <a:xfrm>
            <a:off x="1533833" y="6184494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1350839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163A2D-7C93-F3BC-32AD-DFF7E653E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70C48-47F3-F5AC-768F-D25B0EAB5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342672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Async 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39788-987F-A54E-0437-D574FB0D7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3833" y="803044"/>
            <a:ext cx="9704439" cy="4997987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JavaScript is single-threaded — it has one call stack, meaning it runs one task at a time.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JavaScript engine has the following components: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Call Stack</a:t>
            </a:r>
            <a:r>
              <a:rPr lang="en-US" dirty="0">
                <a:solidFill>
                  <a:schemeClr val="bg1"/>
                </a:solidFill>
              </a:rPr>
              <a:t>: Where functions are executed.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Web APIs</a:t>
            </a:r>
            <a:r>
              <a:rPr lang="en-US" dirty="0">
                <a:solidFill>
                  <a:schemeClr val="bg1"/>
                </a:solidFill>
              </a:rPr>
              <a:t>: Browser or Node.js APIs that handle async operations.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Callback Queue (Macrotask Queue)</a:t>
            </a:r>
            <a:r>
              <a:rPr lang="en-US" dirty="0">
                <a:solidFill>
                  <a:schemeClr val="bg1"/>
                </a:solidFill>
              </a:rPr>
              <a:t>: Stores callbacks from timers(setTimeout, setInterval), events, etc.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Microtask Queue</a:t>
            </a:r>
            <a:r>
              <a:rPr lang="en-US" dirty="0">
                <a:solidFill>
                  <a:schemeClr val="bg1"/>
                </a:solidFill>
              </a:rPr>
              <a:t>: Stores Promises and async/await callbacks.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Event Loop</a:t>
            </a:r>
            <a:r>
              <a:rPr lang="en-US" dirty="0">
                <a:solidFill>
                  <a:schemeClr val="bg1"/>
                </a:solidFill>
              </a:rPr>
              <a:t>: Continuously checks if the call stack is empty and moves queued tasks in.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But the </a:t>
            </a:r>
            <a:r>
              <a:rPr lang="en-US" dirty="0">
                <a:solidFill>
                  <a:schemeClr val="accent6"/>
                </a:solidFill>
              </a:rPr>
              <a:t>Event Loop</a:t>
            </a:r>
            <a:r>
              <a:rPr lang="en-US" dirty="0">
                <a:solidFill>
                  <a:schemeClr val="bg1"/>
                </a:solidFill>
              </a:rPr>
              <a:t> coordinates asynchronous tasks (like setTimeout, fetch, etc.) by interacting with the Web APIs, callback queue, and microtask queue.</a:t>
            </a:r>
          </a:p>
          <a:p>
            <a:pPr marL="342900" indent="-342900" algn="l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A750D-FD05-A5DA-5478-8386E012E8F8}"/>
              </a:ext>
            </a:extLst>
          </p:cNvPr>
          <p:cNvSpPr txBox="1"/>
          <p:nvPr/>
        </p:nvSpPr>
        <p:spPr>
          <a:xfrm>
            <a:off x="1533833" y="6184494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2917588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D20B1-E7A1-7789-748F-706F70998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79FE-F72E-3F2C-6C68-DBD049172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342672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3D469-72C7-BAF5-166A-0FA84FD7D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3833" y="803044"/>
            <a:ext cx="9704439" cy="4997987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 module is just a file that contains reusable code like variables, functions, or classes, and can be imported or exported to other files.</a:t>
            </a:r>
          </a:p>
          <a:p>
            <a:pPr algn="l"/>
            <a:endParaRPr lang="en-US" dirty="0">
              <a:solidFill>
                <a:schemeClr val="bg1"/>
              </a:solidFill>
            </a:endParaRPr>
          </a:p>
          <a:p>
            <a:pPr algn="l"/>
            <a:r>
              <a:rPr lang="en-US" dirty="0">
                <a:solidFill>
                  <a:schemeClr val="bg1"/>
                </a:solidFill>
              </a:rPr>
              <a:t>There are two module systems in JavaScript: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CommonJS </a:t>
            </a:r>
            <a:r>
              <a:rPr lang="en-US" dirty="0">
                <a:solidFill>
                  <a:schemeClr val="bg1"/>
                </a:solidFill>
              </a:rPr>
              <a:t>(CJS): used in older versions of Node.js (&lt;13). File extension are .js or .cjs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ES Modules </a:t>
            </a:r>
            <a:r>
              <a:rPr lang="en-US" dirty="0">
                <a:solidFill>
                  <a:schemeClr val="bg1"/>
                </a:solidFill>
              </a:rPr>
              <a:t>(ESM): Used in Modern JS (browser &amp; Node &gt;= v13). File extension are .mjs or "type": "module" in package.json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9B42F2-C6A7-50C7-5B90-273FE091E009}"/>
              </a:ext>
            </a:extLst>
          </p:cNvPr>
          <p:cNvSpPr txBox="1"/>
          <p:nvPr/>
        </p:nvSpPr>
        <p:spPr>
          <a:xfrm>
            <a:off x="1533833" y="6184494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2623622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A8E0A-512B-E25B-A9A8-D16C4B094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B1435-1ACC-0BE8-2CA0-1DB5D3F33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342672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Node Package Manager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C89992-B024-7CA5-747C-CEB0AA6ED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3833" y="803044"/>
            <a:ext cx="9704439" cy="4997987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NPM (Node Package Manager) is the default package manager for Node.js, and it helps you to: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Install reusable code packages (called “modules” or “dependencies”).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Manage your project’s dependencies and versions.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Run scripts that automate tasks (e.g. starting the app, testing, building, etc.).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algn="l"/>
            <a:r>
              <a:rPr lang="en-US" dirty="0">
                <a:solidFill>
                  <a:schemeClr val="bg1"/>
                </a:solidFill>
              </a:rPr>
              <a:t>When you initialize an NPM project, it comes with </a:t>
            </a:r>
            <a:r>
              <a:rPr lang="en-US" dirty="0">
                <a:solidFill>
                  <a:schemeClr val="accent6"/>
                </a:solidFill>
              </a:rPr>
              <a:t>node_modules</a:t>
            </a:r>
            <a:r>
              <a:rPr lang="en-US" dirty="0">
                <a:solidFill>
                  <a:schemeClr val="bg1"/>
                </a:solidFill>
              </a:rPr>
              <a:t> folder and </a:t>
            </a:r>
            <a:r>
              <a:rPr lang="en-US" dirty="0">
                <a:solidFill>
                  <a:schemeClr val="accent6"/>
                </a:solidFill>
              </a:rPr>
              <a:t>package.json</a:t>
            </a:r>
            <a:r>
              <a:rPr lang="en-US" dirty="0">
                <a:solidFill>
                  <a:schemeClr val="bg1"/>
                </a:solidFill>
              </a:rPr>
              <a:t> file.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node_modules</a:t>
            </a:r>
            <a:r>
              <a:rPr lang="en-US" dirty="0">
                <a:solidFill>
                  <a:schemeClr val="bg1"/>
                </a:solidFill>
              </a:rPr>
              <a:t>: Is the folder where all the project’s local dependencies are kept.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package.json</a:t>
            </a:r>
            <a:r>
              <a:rPr lang="en-US" dirty="0">
                <a:solidFill>
                  <a:schemeClr val="bg1"/>
                </a:solidFill>
              </a:rPr>
              <a:t>: Is the configuration file for any Node.js project. It describes your project and keeps track of all dependencies and metadata.</a:t>
            </a:r>
          </a:p>
        </p:txBody>
      </p:sp>
    </p:spTree>
    <p:extLst>
      <p:ext uri="{BB962C8B-B14F-4D97-AF65-F5344CB8AC3E}">
        <p14:creationId xmlns:p14="http://schemas.microsoft.com/office/powerpoint/2010/main" val="4250579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5236</TotalTime>
  <Words>1538</Words>
  <Application>Microsoft Office PowerPoint</Application>
  <PresentationFormat>Widescreen</PresentationFormat>
  <Paragraphs>218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What is JavaScript?</vt:lpstr>
      <vt:lpstr>Technical Differences</vt:lpstr>
      <vt:lpstr>Topics</vt:lpstr>
      <vt:lpstr>Variables</vt:lpstr>
      <vt:lpstr>PowerPoint Presentation</vt:lpstr>
      <vt:lpstr>PowerPoint Presentation</vt:lpstr>
      <vt:lpstr>Data Types</vt:lpstr>
      <vt:lpstr>Primitive Data Types</vt:lpstr>
      <vt:lpstr>Non-Primitive Data Types</vt:lpstr>
      <vt:lpstr>Scopes</vt:lpstr>
      <vt:lpstr>Control Flow &amp; Error Handling</vt:lpstr>
      <vt:lpstr>Control Flow &amp; Error Handling</vt:lpstr>
      <vt:lpstr>Classes</vt:lpstr>
      <vt:lpstr>Classes</vt:lpstr>
      <vt:lpstr>Primitive Wrapper Objects</vt:lpstr>
      <vt:lpstr>Async JavaScript</vt:lpstr>
      <vt:lpstr>Modules</vt:lpstr>
      <vt:lpstr>Node Package Manager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 OKEKE</dc:creator>
  <cp:lastModifiedBy>CHRISTIAN  OKEKE</cp:lastModifiedBy>
  <cp:revision>68</cp:revision>
  <dcterms:created xsi:type="dcterms:W3CDTF">2025-09-24T09:42:11Z</dcterms:created>
  <dcterms:modified xsi:type="dcterms:W3CDTF">2025-11-02T18:33:26Z</dcterms:modified>
</cp:coreProperties>
</file>